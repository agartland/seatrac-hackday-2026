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19"/>
  </p:notesMasterIdLst>
  <p:sldIdLst>
    <p:sldId id="383" r:id="rId5"/>
    <p:sldId id="2145706839" r:id="rId6"/>
    <p:sldId id="2145706865" r:id="rId7"/>
    <p:sldId id="2145706852" r:id="rId8"/>
    <p:sldId id="2145706878" r:id="rId9"/>
    <p:sldId id="2145706882" r:id="rId10"/>
    <p:sldId id="2145706876" r:id="rId11"/>
    <p:sldId id="2145706873" r:id="rId12"/>
    <p:sldId id="2145706874" r:id="rId13"/>
    <p:sldId id="2145706879" r:id="rId14"/>
    <p:sldId id="2145706880" r:id="rId15"/>
    <p:sldId id="2145706881" r:id="rId16"/>
    <p:sldId id="2145706843" r:id="rId17"/>
    <p:sldId id="2145706869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55AD650-8F59-61C2-531D-33CF08FAFE0B}" name="Fiore-Gartland, Andrew J" initials="FJ" userId="S::agartlan@fredhutch.org::e2c7091a-4529-410b-8188-b1bfa8d6e467" providerId="AD"/>
  <p188:author id="{FE855CC6-FD4D-D259-9418-6073B63A4B35}" name="Voillet, Valentin" initials="VV" userId="S::vvoillet@fredhutch.org::0a13535f-90c1-40b4-b0be-971f5f352f37" providerId="AD"/>
  <p188:author id="{EE617DD1-797E-5D1C-9E2D-8809892AF862}" name="Andersen-Nissen PhD, Erica" initials="ANPE" userId="S::eanderse@fredhutch.org::9f09097f-61d9-4e7b-89f3-30f0cb57d0cb" providerId="AD"/>
  <p188:author id="{CA3281D5-9F5F-2773-44CD-562D85D8FFC3}" name="Fleming, Lamar M" initials="FM" userId="S::lballweb@fredhutch.org::68d41d4b-20a1-4a8f-a703-f1ca996b472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04040"/>
    <a:srgbClr val="BFBFBF"/>
    <a:srgbClr val="93CD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D3E6C69-F701-4057-84B1-F9D8FF8B5348}" v="11" dt="2026-02-10T01:12:53.585"/>
    <p1510:client id="{A1E60243-5A23-4E30-A28E-0ED15B54B8DE}" v="26" dt="2026-02-10T07:46:38.82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2637" autoAdjust="0"/>
  </p:normalViewPr>
  <p:slideViewPr>
    <p:cSldViewPr snapToGrid="0">
      <p:cViewPr>
        <p:scale>
          <a:sx n="88" d="100"/>
          <a:sy n="88" d="100"/>
        </p:scale>
        <p:origin x="820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509B4AC-170E-4AB3-8597-3D59F0854744}" type="doc">
      <dgm:prSet loTypeId="urn:microsoft.com/office/officeart/2005/8/layout/cycle6" loCatId="relationship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A8203A33-427F-4F4C-88FF-DB4D4A9DDAF1}">
      <dgm:prSet phldrT="[Text]"/>
      <dgm:spPr/>
      <dgm:t>
        <a:bodyPr/>
        <a:lstStyle/>
        <a:p>
          <a:r>
            <a:rPr lang="en-US" dirty="0"/>
            <a:t>Learn</a:t>
          </a:r>
        </a:p>
      </dgm:t>
    </dgm:pt>
    <dgm:pt modelId="{17E28B95-9CC6-4D69-B9AC-0676B5EDB94E}" type="parTrans" cxnId="{81C3640D-F767-4D4D-8B6E-9F765A5970D3}">
      <dgm:prSet/>
      <dgm:spPr/>
      <dgm:t>
        <a:bodyPr/>
        <a:lstStyle/>
        <a:p>
          <a:endParaRPr lang="en-US"/>
        </a:p>
      </dgm:t>
    </dgm:pt>
    <dgm:pt modelId="{3EFC7C73-86FB-4BEE-86B1-590B6D5DA04E}" type="sibTrans" cxnId="{81C3640D-F767-4D4D-8B6E-9F765A5970D3}">
      <dgm:prSet/>
      <dgm:spPr/>
      <dgm:t>
        <a:bodyPr/>
        <a:lstStyle/>
        <a:p>
          <a:endParaRPr lang="en-US"/>
        </a:p>
      </dgm:t>
    </dgm:pt>
    <dgm:pt modelId="{F15C7444-E242-4854-A86F-25535A903A70}">
      <dgm:prSet phldrT="[Text]"/>
      <dgm:spPr/>
      <dgm:t>
        <a:bodyPr/>
        <a:lstStyle/>
        <a:p>
          <a:r>
            <a:rPr lang="en-US" dirty="0"/>
            <a:t>Hypothesize</a:t>
          </a:r>
        </a:p>
      </dgm:t>
    </dgm:pt>
    <dgm:pt modelId="{65273B91-FD9B-485E-9A28-98E176A8F98D}" type="parTrans" cxnId="{9163594F-0A03-4443-B1A0-825FA7D3F868}">
      <dgm:prSet/>
      <dgm:spPr/>
      <dgm:t>
        <a:bodyPr/>
        <a:lstStyle/>
        <a:p>
          <a:endParaRPr lang="en-US"/>
        </a:p>
      </dgm:t>
    </dgm:pt>
    <dgm:pt modelId="{3C264C73-79FA-40BB-BD4A-EF5F390693C2}" type="sibTrans" cxnId="{9163594F-0A03-4443-B1A0-825FA7D3F868}">
      <dgm:prSet/>
      <dgm:spPr/>
      <dgm:t>
        <a:bodyPr/>
        <a:lstStyle/>
        <a:p>
          <a:endParaRPr lang="en-US"/>
        </a:p>
      </dgm:t>
    </dgm:pt>
    <dgm:pt modelId="{746EB3BB-4D78-4144-9A6F-D196897ABFE9}">
      <dgm:prSet phldrT="[Text]"/>
      <dgm:spPr/>
      <dgm:t>
        <a:bodyPr/>
        <a:lstStyle/>
        <a:p>
          <a:r>
            <a:rPr lang="en-US" dirty="0"/>
            <a:t>Visualize</a:t>
          </a:r>
        </a:p>
      </dgm:t>
    </dgm:pt>
    <dgm:pt modelId="{2F200A2A-A484-4CF5-836E-161C44A173D7}" type="parTrans" cxnId="{1DCEF33C-B8FC-495C-AE49-4146A9CD4336}">
      <dgm:prSet/>
      <dgm:spPr/>
      <dgm:t>
        <a:bodyPr/>
        <a:lstStyle/>
        <a:p>
          <a:endParaRPr lang="en-US"/>
        </a:p>
      </dgm:t>
    </dgm:pt>
    <dgm:pt modelId="{70CAA615-9867-4AB8-B6D2-AFAF3B4169AB}" type="sibTrans" cxnId="{1DCEF33C-B8FC-495C-AE49-4146A9CD4336}">
      <dgm:prSet/>
      <dgm:spPr/>
      <dgm:t>
        <a:bodyPr/>
        <a:lstStyle/>
        <a:p>
          <a:endParaRPr lang="en-US"/>
        </a:p>
      </dgm:t>
    </dgm:pt>
    <dgm:pt modelId="{0ED585EB-D277-4460-BE2A-7C2D66D26B40}">
      <dgm:prSet phldrT="[Text]"/>
      <dgm:spPr/>
      <dgm:t>
        <a:bodyPr/>
        <a:lstStyle/>
        <a:p>
          <a:r>
            <a:rPr lang="en-US" dirty="0"/>
            <a:t>Build</a:t>
          </a:r>
          <a:br>
            <a:rPr lang="en-US" dirty="0"/>
          </a:br>
          <a:r>
            <a:rPr lang="en-US" dirty="0"/>
            <a:t>community</a:t>
          </a:r>
        </a:p>
      </dgm:t>
    </dgm:pt>
    <dgm:pt modelId="{E4028B71-FAF7-48BD-93E3-A307D1A33265}" type="parTrans" cxnId="{E5D69A94-DE1A-4707-A57F-7586DEE36B9A}">
      <dgm:prSet/>
      <dgm:spPr/>
      <dgm:t>
        <a:bodyPr/>
        <a:lstStyle/>
        <a:p>
          <a:endParaRPr lang="en-US"/>
        </a:p>
      </dgm:t>
    </dgm:pt>
    <dgm:pt modelId="{29E734AC-FE24-46A4-953A-8F960D1E8249}" type="sibTrans" cxnId="{E5D69A94-DE1A-4707-A57F-7586DEE36B9A}">
      <dgm:prSet/>
      <dgm:spPr/>
      <dgm:t>
        <a:bodyPr/>
        <a:lstStyle/>
        <a:p>
          <a:endParaRPr lang="en-US"/>
        </a:p>
      </dgm:t>
    </dgm:pt>
    <dgm:pt modelId="{7DB510C6-B1A9-483C-BCE1-4E33B5ADCC14}">
      <dgm:prSet phldrT="[Text]"/>
      <dgm:spPr/>
      <dgm:t>
        <a:bodyPr/>
        <a:lstStyle/>
        <a:p>
          <a:r>
            <a:rPr lang="en-US" dirty="0"/>
            <a:t>Teach</a:t>
          </a:r>
        </a:p>
      </dgm:t>
    </dgm:pt>
    <dgm:pt modelId="{3602226A-DF8B-467E-BF95-39D024098524}" type="parTrans" cxnId="{47B001D2-4BE0-480A-8649-E179E9440A40}">
      <dgm:prSet/>
      <dgm:spPr/>
      <dgm:t>
        <a:bodyPr/>
        <a:lstStyle/>
        <a:p>
          <a:endParaRPr lang="en-US"/>
        </a:p>
      </dgm:t>
    </dgm:pt>
    <dgm:pt modelId="{0D976077-FABD-4FC3-94F6-42B5C0821DF9}" type="sibTrans" cxnId="{47B001D2-4BE0-480A-8649-E179E9440A40}">
      <dgm:prSet/>
      <dgm:spPr/>
      <dgm:t>
        <a:bodyPr/>
        <a:lstStyle/>
        <a:p>
          <a:endParaRPr lang="en-US"/>
        </a:p>
      </dgm:t>
    </dgm:pt>
    <dgm:pt modelId="{365A1F31-6E60-4331-A2F5-772FE78DC2AF}" type="pres">
      <dgm:prSet presAssocID="{9509B4AC-170E-4AB3-8597-3D59F0854744}" presName="cycle" presStyleCnt="0">
        <dgm:presLayoutVars>
          <dgm:dir/>
          <dgm:resizeHandles val="exact"/>
        </dgm:presLayoutVars>
      </dgm:prSet>
      <dgm:spPr/>
    </dgm:pt>
    <dgm:pt modelId="{B125B7B5-0551-4A3E-974D-72F8A8DDB401}" type="pres">
      <dgm:prSet presAssocID="{A8203A33-427F-4F4C-88FF-DB4D4A9DDAF1}" presName="node" presStyleLbl="node1" presStyleIdx="0" presStyleCnt="5">
        <dgm:presLayoutVars>
          <dgm:bulletEnabled val="1"/>
        </dgm:presLayoutVars>
      </dgm:prSet>
      <dgm:spPr/>
    </dgm:pt>
    <dgm:pt modelId="{93A232F5-FBD4-496C-8792-C4FDC9CB12BE}" type="pres">
      <dgm:prSet presAssocID="{A8203A33-427F-4F4C-88FF-DB4D4A9DDAF1}" presName="spNode" presStyleCnt="0"/>
      <dgm:spPr/>
    </dgm:pt>
    <dgm:pt modelId="{474247BC-559E-4202-A6BE-346EAB5805C0}" type="pres">
      <dgm:prSet presAssocID="{3EFC7C73-86FB-4BEE-86B1-590B6D5DA04E}" presName="sibTrans" presStyleLbl="sibTrans1D1" presStyleIdx="0" presStyleCnt="5"/>
      <dgm:spPr/>
    </dgm:pt>
    <dgm:pt modelId="{4034FA56-26C9-41DC-B6D4-AC3ACD18BDF7}" type="pres">
      <dgm:prSet presAssocID="{F15C7444-E242-4854-A86F-25535A903A70}" presName="node" presStyleLbl="node1" presStyleIdx="1" presStyleCnt="5" custScaleX="158061">
        <dgm:presLayoutVars>
          <dgm:bulletEnabled val="1"/>
        </dgm:presLayoutVars>
      </dgm:prSet>
      <dgm:spPr/>
    </dgm:pt>
    <dgm:pt modelId="{379A32AB-EAE7-4726-A54E-EEA810B368CB}" type="pres">
      <dgm:prSet presAssocID="{F15C7444-E242-4854-A86F-25535A903A70}" presName="spNode" presStyleCnt="0"/>
      <dgm:spPr/>
    </dgm:pt>
    <dgm:pt modelId="{10106015-9686-4169-A2A8-88D6946E5E92}" type="pres">
      <dgm:prSet presAssocID="{3C264C73-79FA-40BB-BD4A-EF5F390693C2}" presName="sibTrans" presStyleLbl="sibTrans1D1" presStyleIdx="1" presStyleCnt="5"/>
      <dgm:spPr/>
    </dgm:pt>
    <dgm:pt modelId="{8448F133-C65F-4954-AF27-BD5A76567D62}" type="pres">
      <dgm:prSet presAssocID="{746EB3BB-4D78-4144-9A6F-D196897ABFE9}" presName="node" presStyleLbl="node1" presStyleIdx="2" presStyleCnt="5" custRadScaleRad="98970" custRadScaleInc="-79146">
        <dgm:presLayoutVars>
          <dgm:bulletEnabled val="1"/>
        </dgm:presLayoutVars>
      </dgm:prSet>
      <dgm:spPr/>
    </dgm:pt>
    <dgm:pt modelId="{B0F43BFF-FFD9-433F-BEE6-C059DEEABACF}" type="pres">
      <dgm:prSet presAssocID="{746EB3BB-4D78-4144-9A6F-D196897ABFE9}" presName="spNode" presStyleCnt="0"/>
      <dgm:spPr/>
    </dgm:pt>
    <dgm:pt modelId="{F35432A2-A74B-48B8-ABBE-46D6C01B8844}" type="pres">
      <dgm:prSet presAssocID="{70CAA615-9867-4AB8-B6D2-AFAF3B4169AB}" presName="sibTrans" presStyleLbl="sibTrans1D1" presStyleIdx="2" presStyleCnt="5"/>
      <dgm:spPr/>
    </dgm:pt>
    <dgm:pt modelId="{A980A706-4647-4330-B553-0CD658B84137}" type="pres">
      <dgm:prSet presAssocID="{0ED585EB-D277-4460-BE2A-7C2D66D26B40}" presName="node" presStyleLbl="node1" presStyleIdx="3" presStyleCnt="5" custScaleX="169488" custRadScaleRad="94770" custRadScaleInc="28789">
        <dgm:presLayoutVars>
          <dgm:bulletEnabled val="1"/>
        </dgm:presLayoutVars>
      </dgm:prSet>
      <dgm:spPr/>
    </dgm:pt>
    <dgm:pt modelId="{00AE777A-5B85-4E4E-9C95-CAB0C60D1F74}" type="pres">
      <dgm:prSet presAssocID="{0ED585EB-D277-4460-BE2A-7C2D66D26B40}" presName="spNode" presStyleCnt="0"/>
      <dgm:spPr/>
    </dgm:pt>
    <dgm:pt modelId="{808A892E-E96D-43DC-AC65-B644D3691ACD}" type="pres">
      <dgm:prSet presAssocID="{29E734AC-FE24-46A4-953A-8F960D1E8249}" presName="sibTrans" presStyleLbl="sibTrans1D1" presStyleIdx="3" presStyleCnt="5"/>
      <dgm:spPr/>
    </dgm:pt>
    <dgm:pt modelId="{D42ADDC6-2641-4668-A3A0-1B4F40A44C57}" type="pres">
      <dgm:prSet presAssocID="{7DB510C6-B1A9-483C-BCE1-4E33B5ADCC14}" presName="node" presStyleLbl="node1" presStyleIdx="4" presStyleCnt="5">
        <dgm:presLayoutVars>
          <dgm:bulletEnabled val="1"/>
        </dgm:presLayoutVars>
      </dgm:prSet>
      <dgm:spPr/>
    </dgm:pt>
    <dgm:pt modelId="{FABC511D-2B30-4428-93C5-55DE9F860F87}" type="pres">
      <dgm:prSet presAssocID="{7DB510C6-B1A9-483C-BCE1-4E33B5ADCC14}" presName="spNode" presStyleCnt="0"/>
      <dgm:spPr/>
    </dgm:pt>
    <dgm:pt modelId="{0AD0F8D9-6ABD-476C-934D-1D28312185E6}" type="pres">
      <dgm:prSet presAssocID="{0D976077-FABD-4FC3-94F6-42B5C0821DF9}" presName="sibTrans" presStyleLbl="sibTrans1D1" presStyleIdx="4" presStyleCnt="5"/>
      <dgm:spPr/>
    </dgm:pt>
  </dgm:ptLst>
  <dgm:cxnLst>
    <dgm:cxn modelId="{81C3640D-F767-4D4D-8B6E-9F765A5970D3}" srcId="{9509B4AC-170E-4AB3-8597-3D59F0854744}" destId="{A8203A33-427F-4F4C-88FF-DB4D4A9DDAF1}" srcOrd="0" destOrd="0" parTransId="{17E28B95-9CC6-4D69-B9AC-0676B5EDB94E}" sibTransId="{3EFC7C73-86FB-4BEE-86B1-590B6D5DA04E}"/>
    <dgm:cxn modelId="{1DCEF33C-B8FC-495C-AE49-4146A9CD4336}" srcId="{9509B4AC-170E-4AB3-8597-3D59F0854744}" destId="{746EB3BB-4D78-4144-9A6F-D196897ABFE9}" srcOrd="2" destOrd="0" parTransId="{2F200A2A-A484-4CF5-836E-161C44A173D7}" sibTransId="{70CAA615-9867-4AB8-B6D2-AFAF3B4169AB}"/>
    <dgm:cxn modelId="{84275B40-14A9-4699-B426-5E909BC9CC78}" type="presOf" srcId="{0ED585EB-D277-4460-BE2A-7C2D66D26B40}" destId="{A980A706-4647-4330-B553-0CD658B84137}" srcOrd="0" destOrd="0" presId="urn:microsoft.com/office/officeart/2005/8/layout/cycle6"/>
    <dgm:cxn modelId="{9163594F-0A03-4443-B1A0-825FA7D3F868}" srcId="{9509B4AC-170E-4AB3-8597-3D59F0854744}" destId="{F15C7444-E242-4854-A86F-25535A903A70}" srcOrd="1" destOrd="0" parTransId="{65273B91-FD9B-485E-9A28-98E176A8F98D}" sibTransId="{3C264C73-79FA-40BB-BD4A-EF5F390693C2}"/>
    <dgm:cxn modelId="{027EFB77-D116-48EE-A323-E86FE8D010A2}" type="presOf" srcId="{9509B4AC-170E-4AB3-8597-3D59F0854744}" destId="{365A1F31-6E60-4331-A2F5-772FE78DC2AF}" srcOrd="0" destOrd="0" presId="urn:microsoft.com/office/officeart/2005/8/layout/cycle6"/>
    <dgm:cxn modelId="{AB137E7B-245A-422A-9897-AF8DA7FD24BC}" type="presOf" srcId="{7DB510C6-B1A9-483C-BCE1-4E33B5ADCC14}" destId="{D42ADDC6-2641-4668-A3A0-1B4F40A44C57}" srcOrd="0" destOrd="0" presId="urn:microsoft.com/office/officeart/2005/8/layout/cycle6"/>
    <dgm:cxn modelId="{1FE9A97D-EBCA-4573-B7B4-F0874C17B2C0}" type="presOf" srcId="{3EFC7C73-86FB-4BEE-86B1-590B6D5DA04E}" destId="{474247BC-559E-4202-A6BE-346EAB5805C0}" srcOrd="0" destOrd="0" presId="urn:microsoft.com/office/officeart/2005/8/layout/cycle6"/>
    <dgm:cxn modelId="{80779C86-DE26-439C-A71E-51F5C705C6CE}" type="presOf" srcId="{70CAA615-9867-4AB8-B6D2-AFAF3B4169AB}" destId="{F35432A2-A74B-48B8-ABBE-46D6C01B8844}" srcOrd="0" destOrd="0" presId="urn:microsoft.com/office/officeart/2005/8/layout/cycle6"/>
    <dgm:cxn modelId="{E5D69A94-DE1A-4707-A57F-7586DEE36B9A}" srcId="{9509B4AC-170E-4AB3-8597-3D59F0854744}" destId="{0ED585EB-D277-4460-BE2A-7C2D66D26B40}" srcOrd="3" destOrd="0" parTransId="{E4028B71-FAF7-48BD-93E3-A307D1A33265}" sibTransId="{29E734AC-FE24-46A4-953A-8F960D1E8249}"/>
    <dgm:cxn modelId="{8756B597-80FD-4681-AFC7-B8F8DC942FC7}" type="presOf" srcId="{F15C7444-E242-4854-A86F-25535A903A70}" destId="{4034FA56-26C9-41DC-B6D4-AC3ACD18BDF7}" srcOrd="0" destOrd="0" presId="urn:microsoft.com/office/officeart/2005/8/layout/cycle6"/>
    <dgm:cxn modelId="{81FC1C9A-AD44-4D50-8548-296ECDB5C478}" type="presOf" srcId="{3C264C73-79FA-40BB-BD4A-EF5F390693C2}" destId="{10106015-9686-4169-A2A8-88D6946E5E92}" srcOrd="0" destOrd="0" presId="urn:microsoft.com/office/officeart/2005/8/layout/cycle6"/>
    <dgm:cxn modelId="{660BD3A5-32A1-4C0C-BF9F-461C5E34412D}" type="presOf" srcId="{29E734AC-FE24-46A4-953A-8F960D1E8249}" destId="{808A892E-E96D-43DC-AC65-B644D3691ACD}" srcOrd="0" destOrd="0" presId="urn:microsoft.com/office/officeart/2005/8/layout/cycle6"/>
    <dgm:cxn modelId="{8C4156C4-BED8-4A6B-ABA4-CDD7166406B7}" type="presOf" srcId="{A8203A33-427F-4F4C-88FF-DB4D4A9DDAF1}" destId="{B125B7B5-0551-4A3E-974D-72F8A8DDB401}" srcOrd="0" destOrd="0" presId="urn:microsoft.com/office/officeart/2005/8/layout/cycle6"/>
    <dgm:cxn modelId="{66C15ECD-C4D5-42E2-972B-DFD48BDAD754}" type="presOf" srcId="{0D976077-FABD-4FC3-94F6-42B5C0821DF9}" destId="{0AD0F8D9-6ABD-476C-934D-1D28312185E6}" srcOrd="0" destOrd="0" presId="urn:microsoft.com/office/officeart/2005/8/layout/cycle6"/>
    <dgm:cxn modelId="{47B001D2-4BE0-480A-8649-E179E9440A40}" srcId="{9509B4AC-170E-4AB3-8597-3D59F0854744}" destId="{7DB510C6-B1A9-483C-BCE1-4E33B5ADCC14}" srcOrd="4" destOrd="0" parTransId="{3602226A-DF8B-467E-BF95-39D024098524}" sibTransId="{0D976077-FABD-4FC3-94F6-42B5C0821DF9}"/>
    <dgm:cxn modelId="{9648B5D9-42AE-49A4-9671-8A2CD69C53B0}" type="presOf" srcId="{746EB3BB-4D78-4144-9A6F-D196897ABFE9}" destId="{8448F133-C65F-4954-AF27-BD5A76567D62}" srcOrd="0" destOrd="0" presId="urn:microsoft.com/office/officeart/2005/8/layout/cycle6"/>
    <dgm:cxn modelId="{8FBAC9C9-DE7B-43FC-BC70-3F348CBE80EE}" type="presParOf" srcId="{365A1F31-6E60-4331-A2F5-772FE78DC2AF}" destId="{B125B7B5-0551-4A3E-974D-72F8A8DDB401}" srcOrd="0" destOrd="0" presId="urn:microsoft.com/office/officeart/2005/8/layout/cycle6"/>
    <dgm:cxn modelId="{7C63F71E-9C0A-465E-9834-D1C719523098}" type="presParOf" srcId="{365A1F31-6E60-4331-A2F5-772FE78DC2AF}" destId="{93A232F5-FBD4-496C-8792-C4FDC9CB12BE}" srcOrd="1" destOrd="0" presId="urn:microsoft.com/office/officeart/2005/8/layout/cycle6"/>
    <dgm:cxn modelId="{78421AFA-4EED-4291-B177-5D90657C1434}" type="presParOf" srcId="{365A1F31-6E60-4331-A2F5-772FE78DC2AF}" destId="{474247BC-559E-4202-A6BE-346EAB5805C0}" srcOrd="2" destOrd="0" presId="urn:microsoft.com/office/officeart/2005/8/layout/cycle6"/>
    <dgm:cxn modelId="{4EC45A0A-78B7-4241-8704-CDB2F97FD2EE}" type="presParOf" srcId="{365A1F31-6E60-4331-A2F5-772FE78DC2AF}" destId="{4034FA56-26C9-41DC-B6D4-AC3ACD18BDF7}" srcOrd="3" destOrd="0" presId="urn:microsoft.com/office/officeart/2005/8/layout/cycle6"/>
    <dgm:cxn modelId="{53BBBAAD-D326-41BC-BA73-D91F1FD0FAD0}" type="presParOf" srcId="{365A1F31-6E60-4331-A2F5-772FE78DC2AF}" destId="{379A32AB-EAE7-4726-A54E-EEA810B368CB}" srcOrd="4" destOrd="0" presId="urn:microsoft.com/office/officeart/2005/8/layout/cycle6"/>
    <dgm:cxn modelId="{D67D1276-240E-4829-8EE0-E7BD98803D74}" type="presParOf" srcId="{365A1F31-6E60-4331-A2F5-772FE78DC2AF}" destId="{10106015-9686-4169-A2A8-88D6946E5E92}" srcOrd="5" destOrd="0" presId="urn:microsoft.com/office/officeart/2005/8/layout/cycle6"/>
    <dgm:cxn modelId="{5A72CB1A-EFEE-4365-BDA4-D93B1F5EFAD8}" type="presParOf" srcId="{365A1F31-6E60-4331-A2F5-772FE78DC2AF}" destId="{8448F133-C65F-4954-AF27-BD5A76567D62}" srcOrd="6" destOrd="0" presId="urn:microsoft.com/office/officeart/2005/8/layout/cycle6"/>
    <dgm:cxn modelId="{9F8FA103-A861-41F5-9E70-C0D4B50E1234}" type="presParOf" srcId="{365A1F31-6E60-4331-A2F5-772FE78DC2AF}" destId="{B0F43BFF-FFD9-433F-BEE6-C059DEEABACF}" srcOrd="7" destOrd="0" presId="urn:microsoft.com/office/officeart/2005/8/layout/cycle6"/>
    <dgm:cxn modelId="{8AC5E004-9859-4A3C-9B33-80D9022B11D5}" type="presParOf" srcId="{365A1F31-6E60-4331-A2F5-772FE78DC2AF}" destId="{F35432A2-A74B-48B8-ABBE-46D6C01B8844}" srcOrd="8" destOrd="0" presId="urn:microsoft.com/office/officeart/2005/8/layout/cycle6"/>
    <dgm:cxn modelId="{5B314708-AFBC-4577-8218-0485D67D95B6}" type="presParOf" srcId="{365A1F31-6E60-4331-A2F5-772FE78DC2AF}" destId="{A980A706-4647-4330-B553-0CD658B84137}" srcOrd="9" destOrd="0" presId="urn:microsoft.com/office/officeart/2005/8/layout/cycle6"/>
    <dgm:cxn modelId="{D721E0C4-57D3-4F86-81BD-29FA38F450E9}" type="presParOf" srcId="{365A1F31-6E60-4331-A2F5-772FE78DC2AF}" destId="{00AE777A-5B85-4E4E-9C95-CAB0C60D1F74}" srcOrd="10" destOrd="0" presId="urn:microsoft.com/office/officeart/2005/8/layout/cycle6"/>
    <dgm:cxn modelId="{CC1D3926-F92C-4EA9-9148-9D7E312D5191}" type="presParOf" srcId="{365A1F31-6E60-4331-A2F5-772FE78DC2AF}" destId="{808A892E-E96D-43DC-AC65-B644D3691ACD}" srcOrd="11" destOrd="0" presId="urn:microsoft.com/office/officeart/2005/8/layout/cycle6"/>
    <dgm:cxn modelId="{8CD9724B-F1D5-484D-A50A-28B77F3DCF0B}" type="presParOf" srcId="{365A1F31-6E60-4331-A2F5-772FE78DC2AF}" destId="{D42ADDC6-2641-4668-A3A0-1B4F40A44C57}" srcOrd="12" destOrd="0" presId="urn:microsoft.com/office/officeart/2005/8/layout/cycle6"/>
    <dgm:cxn modelId="{B0AF209F-7588-47AB-989E-59CB9B459942}" type="presParOf" srcId="{365A1F31-6E60-4331-A2F5-772FE78DC2AF}" destId="{FABC511D-2B30-4428-93C5-55DE9F860F87}" srcOrd="13" destOrd="0" presId="urn:microsoft.com/office/officeart/2005/8/layout/cycle6"/>
    <dgm:cxn modelId="{B46DD289-8DDF-49EC-96BA-887CC73685E0}" type="presParOf" srcId="{365A1F31-6E60-4331-A2F5-772FE78DC2AF}" destId="{0AD0F8D9-6ABD-476C-934D-1D28312185E6}" srcOrd="14" destOrd="0" presId="urn:microsoft.com/office/officeart/2005/8/layout/cycle6"/>
  </dgm:cxnLst>
  <dgm:bg/>
  <dgm:whole>
    <a:ln w="38100"/>
  </dgm:whole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125B7B5-0551-4A3E-974D-72F8A8DDB401}">
      <dsp:nvSpPr>
        <dsp:cNvPr id="0" name=""/>
        <dsp:cNvSpPr/>
      </dsp:nvSpPr>
      <dsp:spPr>
        <a:xfrm>
          <a:off x="2425200" y="3822"/>
          <a:ext cx="1605415" cy="104352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Learn</a:t>
          </a:r>
        </a:p>
      </dsp:txBody>
      <dsp:txXfrm>
        <a:off x="2476140" y="54762"/>
        <a:ext cx="1503535" cy="941640"/>
      </dsp:txXfrm>
    </dsp:sp>
    <dsp:sp modelId="{474247BC-559E-4202-A6BE-346EAB5805C0}">
      <dsp:nvSpPr>
        <dsp:cNvPr id="0" name=""/>
        <dsp:cNvSpPr/>
      </dsp:nvSpPr>
      <dsp:spPr>
        <a:xfrm>
          <a:off x="1144458" y="525583"/>
          <a:ext cx="4166899" cy="4166899"/>
        </a:xfrm>
        <a:custGeom>
          <a:avLst/>
          <a:gdLst/>
          <a:ahLst/>
          <a:cxnLst/>
          <a:rect l="0" t="0" r="0" b="0"/>
          <a:pathLst>
            <a:path>
              <a:moveTo>
                <a:pt x="2897168" y="165475"/>
              </a:moveTo>
              <a:arcTo wR="2083449" hR="2083449" stAng="17579373" swAng="1959857"/>
            </a:path>
          </a:pathLst>
        </a:custGeom>
        <a:noFill/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034FA56-26C9-41DC-B6D4-AC3ACD18BDF7}">
      <dsp:nvSpPr>
        <dsp:cNvPr id="0" name=""/>
        <dsp:cNvSpPr/>
      </dsp:nvSpPr>
      <dsp:spPr>
        <a:xfrm>
          <a:off x="3940618" y="1443451"/>
          <a:ext cx="2537536" cy="1043520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Hypothesize</a:t>
          </a:r>
        </a:p>
      </dsp:txBody>
      <dsp:txXfrm>
        <a:off x="3991558" y="1494391"/>
        <a:ext cx="2435656" cy="941640"/>
      </dsp:txXfrm>
    </dsp:sp>
    <dsp:sp modelId="{10106015-9686-4169-A2A8-88D6946E5E92}">
      <dsp:nvSpPr>
        <dsp:cNvPr id="0" name=""/>
        <dsp:cNvSpPr/>
      </dsp:nvSpPr>
      <dsp:spPr>
        <a:xfrm>
          <a:off x="1141889" y="468372"/>
          <a:ext cx="4166899" cy="4166899"/>
        </a:xfrm>
        <a:custGeom>
          <a:avLst/>
          <a:gdLst/>
          <a:ahLst/>
          <a:cxnLst/>
          <a:rect l="0" t="0" r="0" b="0"/>
          <a:pathLst>
            <a:path>
              <a:moveTo>
                <a:pt x="4166121" y="2026529"/>
              </a:moveTo>
              <a:arcTo wR="2083449" hR="2083449" stAng="21506069" swAng="1290898"/>
            </a:path>
          </a:pathLst>
        </a:custGeom>
        <a:noFill/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448F133-C65F-4954-AF27-BD5A76567D62}">
      <dsp:nvSpPr>
        <dsp:cNvPr id="0" name=""/>
        <dsp:cNvSpPr/>
      </dsp:nvSpPr>
      <dsp:spPr>
        <a:xfrm>
          <a:off x="4114181" y="3270127"/>
          <a:ext cx="1605415" cy="1043520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Visualize</a:t>
          </a:r>
        </a:p>
      </dsp:txBody>
      <dsp:txXfrm>
        <a:off x="4165121" y="3321067"/>
        <a:ext cx="1503535" cy="941640"/>
      </dsp:txXfrm>
    </dsp:sp>
    <dsp:sp modelId="{F35432A2-A74B-48B8-ABBE-46D6C01B8844}">
      <dsp:nvSpPr>
        <dsp:cNvPr id="0" name=""/>
        <dsp:cNvSpPr/>
      </dsp:nvSpPr>
      <dsp:spPr>
        <a:xfrm>
          <a:off x="1258766" y="428297"/>
          <a:ext cx="4166899" cy="4166899"/>
        </a:xfrm>
        <a:custGeom>
          <a:avLst/>
          <a:gdLst/>
          <a:ahLst/>
          <a:cxnLst/>
          <a:rect l="0" t="0" r="0" b="0"/>
          <a:pathLst>
            <a:path>
              <a:moveTo>
                <a:pt x="3117682" y="3892074"/>
              </a:moveTo>
              <a:arcTo wR="2083449" hR="2083449" stAng="3614256" swAng="2218598"/>
            </a:path>
          </a:pathLst>
        </a:custGeom>
        <a:noFill/>
        <a:ln w="9525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980A706-4647-4330-B553-0CD658B84137}">
      <dsp:nvSpPr>
        <dsp:cNvPr id="0" name=""/>
        <dsp:cNvSpPr/>
      </dsp:nvSpPr>
      <dsp:spPr>
        <a:xfrm>
          <a:off x="523105" y="3533447"/>
          <a:ext cx="2720987" cy="104352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Build</a:t>
          </a:r>
          <a:br>
            <a:rPr lang="en-US" sz="2600" kern="1200" dirty="0"/>
          </a:br>
          <a:r>
            <a:rPr lang="en-US" sz="2600" kern="1200" dirty="0"/>
            <a:t>community</a:t>
          </a:r>
        </a:p>
      </dsp:txBody>
      <dsp:txXfrm>
        <a:off x="574045" y="3584387"/>
        <a:ext cx="2619107" cy="941640"/>
      </dsp:txXfrm>
    </dsp:sp>
    <dsp:sp modelId="{808A892E-E96D-43DC-AC65-B644D3691ACD}">
      <dsp:nvSpPr>
        <dsp:cNvPr id="0" name=""/>
        <dsp:cNvSpPr/>
      </dsp:nvSpPr>
      <dsp:spPr>
        <a:xfrm>
          <a:off x="1146104" y="313789"/>
          <a:ext cx="4166899" cy="4166899"/>
        </a:xfrm>
        <a:custGeom>
          <a:avLst/>
          <a:gdLst/>
          <a:ahLst/>
          <a:cxnLst/>
          <a:rect l="0" t="0" r="0" b="0"/>
          <a:pathLst>
            <a:path>
              <a:moveTo>
                <a:pt x="331115" y="3210431"/>
              </a:moveTo>
              <a:arcTo wR="2083449" hR="2083449" stAng="8835217" swAng="1798546"/>
            </a:path>
          </a:pathLst>
        </a:custGeom>
        <a:noFill/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42ADDC6-2641-4668-A3A0-1B4F40A44C57}">
      <dsp:nvSpPr>
        <dsp:cNvPr id="0" name=""/>
        <dsp:cNvSpPr/>
      </dsp:nvSpPr>
      <dsp:spPr>
        <a:xfrm>
          <a:off x="443722" y="1443451"/>
          <a:ext cx="1605415" cy="1043520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Teach</a:t>
          </a:r>
        </a:p>
      </dsp:txBody>
      <dsp:txXfrm>
        <a:off x="494662" y="1494391"/>
        <a:ext cx="1503535" cy="941640"/>
      </dsp:txXfrm>
    </dsp:sp>
    <dsp:sp modelId="{0AD0F8D9-6ABD-476C-934D-1D28312185E6}">
      <dsp:nvSpPr>
        <dsp:cNvPr id="0" name=""/>
        <dsp:cNvSpPr/>
      </dsp:nvSpPr>
      <dsp:spPr>
        <a:xfrm>
          <a:off x="1144458" y="525583"/>
          <a:ext cx="4166899" cy="4166899"/>
        </a:xfrm>
        <a:custGeom>
          <a:avLst/>
          <a:gdLst/>
          <a:ahLst/>
          <a:cxnLst/>
          <a:rect l="0" t="0" r="0" b="0"/>
          <a:pathLst>
            <a:path>
              <a:moveTo>
                <a:pt x="363261" y="907985"/>
              </a:moveTo>
              <a:arcTo wR="2083449" hR="2083449" stAng="12860770" swAng="1959857"/>
            </a:path>
          </a:pathLst>
        </a:custGeom>
        <a:noFill/>
        <a:ln w="9525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6">
  <dgm:title val=""/>
  <dgm:desc val=""/>
  <dgm:catLst>
    <dgm:cat type="cycle" pri="4000"/>
    <dgm:cat type="relationship" pri="2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  <dgm:param type="endSty" val="noArr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01"/>
                <dgm:constr type="endPad" refType="connDist" fact="0.01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AAC2724-620F-4C44-830F-AA065EBC1AD6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BFF195-2F74-4285-AB33-D7016065FE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0871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6F8E91-DD4B-A441-944C-E20EF524C04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22647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+mj-lt"/>
                <a:cs typeface="Arial" panose="020B0604020202020204" pitchFamily="34" charset="0"/>
              </a:rPr>
              <a:t>Deaths have begun to decline again, but not below pre-pandemic levels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5B4810-E9FE-4AB0-B426-D1AA114E94C4}" type="slidenum">
              <a:rPr lang="en-US" altLang="en-US" smtClean="0"/>
              <a:pPr/>
              <a:t>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017100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5B4810-E9FE-4AB0-B426-D1AA114E94C4}" type="slidenum">
              <a:rPr lang="en-US" altLang="en-US" smtClean="0"/>
              <a:pPr/>
              <a:t>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3773418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5B4810-E9FE-4AB0-B426-D1AA114E94C4}" type="slidenum">
              <a:rPr lang="en-US" altLang="en-US" smtClean="0"/>
              <a:pPr/>
              <a:t>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7720627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A7476B-C7A4-3F3B-7193-52FB1FEB7B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A8E7AB-E819-327E-24AA-5014E945AD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3C222E-586B-9BDA-A1BD-A7887C65DF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EEE5C6-8A34-7EB2-9A0F-7E7F0A6598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5B4810-E9FE-4AB0-B426-D1AA114E94C4}" type="slidenum">
              <a:rPr lang="en-US" altLang="en-US" smtClean="0"/>
              <a:pPr/>
              <a:t>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239835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8505C2-FAA6-7453-83D5-9FD39675C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DF94DD-007D-0F09-E586-DFCCC71164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974C24-5195-907E-AD01-E6044EB963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600" b="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78AAEE-B563-E210-6553-730BBCCE95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BFF195-2F74-4285-AB33-D7016065FEB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80081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600" b="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BFF195-2F74-4285-AB33-D7016065FEB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23690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F2A662-AED1-B932-6CB4-AEFF2F588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30F397-7DBE-9B3F-E0BB-9F2B5A0121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2AA1CA-5708-BE86-B09D-F320E163DF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600" b="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EE621A-923B-E577-80A2-A5D7254B53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BFF195-2F74-4285-AB33-D7016065FEB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58157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441B3-F65A-689C-6B34-056923B3F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81D787-682D-5041-3C57-75F09479ED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70EC34-C89C-C3EE-A6A6-A24523843F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E4298A-A98D-0580-09C7-8ADD77CFF8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5B4810-E9FE-4AB0-B426-D1AA114E94C4}" type="slidenum">
              <a:rPr lang="en-US" altLang="en-US" smtClean="0"/>
              <a:pPr/>
              <a:t>10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83503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1DE0CE-5252-794B-32C7-378EBFE5A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51E7CD-11D0-6B93-E448-DDC48428BC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531A23-1292-238A-4634-9E4FE7CD1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959CE3-C646-76F6-722A-29EFFCCC00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5B4810-E9FE-4AB0-B426-D1AA114E94C4}" type="slidenum">
              <a:rPr lang="en-US" altLang="en-US" smtClean="0"/>
              <a:pPr/>
              <a:t>11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380518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81AC9-9912-B001-29CC-CF936403E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1DDC8F-A408-DC14-2BF7-722916DBBF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1916A3-F019-3868-3B16-6584A715D0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91992A-0544-9924-801A-C145D6DF9E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5B4810-E9FE-4AB0-B426-D1AA114E94C4}" type="slidenum">
              <a:rPr lang="en-US" altLang="en-US" smtClean="0"/>
              <a:pPr/>
              <a:t>12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691195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15B4810-E9FE-4AB0-B426-D1AA114E94C4}" type="slidenum">
              <a:rPr lang="en-US" altLang="en-US" smtClean="0"/>
              <a:pPr/>
              <a:t>13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073773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6F8E91-DD4B-A441-944C-E20EF524C04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6414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E8A11-A948-4F76-9026-18B38BBD1B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66978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E8A11-A948-4F76-9026-18B38BBD1B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5531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E8A11-A948-4F76-9026-18B38BBD1B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0561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200"/>
            </a:lvl1pPr>
            <a:lvl2pPr>
              <a:defRPr sz="2200"/>
            </a:lvl2pPr>
            <a:lvl3pPr>
              <a:defRPr sz="2200"/>
            </a:lvl3pPr>
            <a:lvl4pPr>
              <a:defRPr sz="2200"/>
            </a:lvl4pPr>
            <a:lvl5pPr>
              <a:defRPr sz="2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>
            <a:normAutofit/>
          </a:bodyPr>
          <a:lstStyle>
            <a:lvl1pPr>
              <a:defRPr sz="2200"/>
            </a:lvl1pPr>
            <a:lvl2pPr>
              <a:defRPr sz="2200"/>
            </a:lvl2pPr>
            <a:lvl3pPr>
              <a:defRPr sz="2200"/>
            </a:lvl3pPr>
            <a:lvl4pPr>
              <a:defRPr sz="2200"/>
            </a:lvl4pPr>
            <a:lvl5pPr>
              <a:defRPr sz="2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E8A11-A948-4F76-9026-18B38BBD1B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8490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E8A11-A948-4F76-9026-18B38BBD1B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9391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E8A11-A948-4F76-9026-18B38BBD1B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2658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>
            <a:normAutofit/>
          </a:bodyPr>
          <a:lstStyle>
            <a:lvl1pPr>
              <a:defRPr sz="320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>
              <a:defRPr sz="3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E8A11-A948-4F76-9026-18B38BBD1B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67783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ver Slide-Light Ver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10">
            <a:extLst>
              <a:ext uri="{FF2B5EF4-FFF2-40B4-BE49-F238E27FC236}">
                <a16:creationId xmlns:a16="http://schemas.microsoft.com/office/drawing/2014/main" id="{8C5F93BB-DD2C-1717-0A3C-5FA2D48CA767}"/>
              </a:ext>
            </a:extLst>
          </p:cNvPr>
          <p:cNvSpPr txBox="1"/>
          <p:nvPr userDrawn="1"/>
        </p:nvSpPr>
        <p:spPr>
          <a:xfrm>
            <a:off x="10556829" y="6044447"/>
            <a:ext cx="1216080" cy="2249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1867"/>
              </a:lnSpc>
              <a:spcBef>
                <a:spcPct val="0"/>
              </a:spcBef>
            </a:pPr>
            <a:fld id="{7F31C99B-14C2-7149-B1A7-26064733D5E0}" type="slidenum">
              <a:rPr lang="en-US" sz="1333" spc="27" smtClean="0">
                <a:solidFill>
                  <a:srgbClr val="FFFFFF"/>
                </a:solidFill>
                <a:latin typeface="Montserrat"/>
              </a:rPr>
              <a:pPr marL="0" lvl="0" indent="0" algn="r">
                <a:lnSpc>
                  <a:spcPts val="1867"/>
                </a:lnSpc>
                <a:spcBef>
                  <a:spcPct val="0"/>
                </a:spcBef>
              </a:pPr>
              <a:t>‹#›</a:t>
            </a:fld>
            <a:endParaRPr lang="en-US" sz="1333" spc="27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E58A2406-EABD-435A-F3D3-302E811F12D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34967" y="4983481"/>
            <a:ext cx="4724400" cy="1243679"/>
          </a:xfrm>
          <a:prstGeom prst="rect">
            <a:avLst/>
          </a:prstGeom>
          <a:noFill/>
        </p:spPr>
        <p:txBody>
          <a:bodyPr anchor="b">
            <a:noAutofit/>
          </a:bodyPr>
          <a:lstStyle>
            <a:lvl1pPr marL="0" indent="0" algn="l">
              <a:buNone/>
              <a:defRPr sz="1600" b="0" i="0">
                <a:solidFill>
                  <a:srgbClr val="1C345D"/>
                </a:solidFill>
                <a:latin typeface="+mn-lt"/>
                <a:cs typeface="Calibri" panose="020F0502020204030204" pitchFamily="34" charset="0"/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r>
              <a:rPr lang="en-US"/>
              <a:t>, X.X.</a:t>
            </a:r>
          </a:p>
          <a:p>
            <a:r>
              <a:rPr lang="en-US"/>
              <a:t>Title, Department</a:t>
            </a:r>
          </a:p>
          <a:p>
            <a:r>
              <a:rPr lang="en-US"/>
              <a:t>Endowed Chair/Additional Description</a:t>
            </a:r>
          </a:p>
          <a:p>
            <a:r>
              <a:rPr lang="en-US"/>
              <a:t>Month Day, Year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700ACE0-F793-F60D-C6CD-931B3958434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16295" y="1858353"/>
            <a:ext cx="6719392" cy="261594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4000" b="1" i="0">
                <a:solidFill>
                  <a:srgbClr val="1C3B61"/>
                </a:solidFill>
                <a:latin typeface="Times" pitchFamily="2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Title Slide</a:t>
            </a:r>
            <a:br>
              <a:rPr lang="en-US"/>
            </a:br>
            <a:r>
              <a:rPr lang="en-US"/>
              <a:t>Max 4 lines</a:t>
            </a:r>
            <a:br>
              <a:rPr lang="en-US"/>
            </a:br>
            <a:r>
              <a:rPr lang="en-US"/>
              <a:t>Times 60 </a:t>
            </a:r>
            <a:r>
              <a:rPr lang="en-US" err="1"/>
              <a:t>pt</a:t>
            </a:r>
            <a:r>
              <a:rPr lang="en-US"/>
              <a:t> font size</a:t>
            </a:r>
            <a:br>
              <a:rPr lang="en-US"/>
            </a:br>
            <a:r>
              <a:rPr lang="en-US"/>
              <a:t>Adjust accordingly</a:t>
            </a:r>
          </a:p>
        </p:txBody>
      </p:sp>
    </p:spTree>
    <p:extLst>
      <p:ext uri="{BB962C8B-B14F-4D97-AF65-F5344CB8AC3E}">
        <p14:creationId xmlns:p14="http://schemas.microsoft.com/office/powerpoint/2010/main" val="17669371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552">
          <p15:clr>
            <a:srgbClr val="FBAE40"/>
          </p15:clr>
        </p15:guide>
        <p15:guide id="2" orient="horz" pos="5832">
          <p15:clr>
            <a:srgbClr val="FBAE40"/>
          </p15:clr>
        </p15:guide>
        <p15:guide id="3" orient="horz" pos="648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6E8A11-A948-4F76-9026-18B38BBD1B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92441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75" r:id="rId8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Courier New" panose="02070309020205020404" pitchFamily="49" charset="0"/>
        <a:buChar char="o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disc.org/cdisc-library" TargetMode="External"/><Relationship Id="rId2" Type="http://schemas.openxmlformats.org/officeDocument/2006/relationships/hyperlink" Target="https://www.cdisc.org/standard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9.png"/><Relationship Id="rId5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9C6A5B32-273B-85C0-AE78-E510315561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087" y="3771900"/>
            <a:ext cx="4724400" cy="3001704"/>
          </a:xfrm>
        </p:spPr>
        <p:txBody>
          <a:bodyPr/>
          <a:lstStyle/>
          <a:p>
            <a:endParaRPr lang="en-US" sz="1400" b="1" dirty="0">
              <a:solidFill>
                <a:schemeClr val="tx1"/>
              </a:solidFill>
            </a:endParaRPr>
          </a:p>
          <a:p>
            <a:r>
              <a:rPr lang="en-US" sz="1400" b="1" dirty="0">
                <a:solidFill>
                  <a:schemeClr val="tx1"/>
                </a:solidFill>
              </a:rPr>
              <a:t>Andrew Fiore-Gartland, Ph.D.</a:t>
            </a:r>
          </a:p>
          <a:p>
            <a:r>
              <a:rPr lang="en-US" sz="1400" i="1" dirty="0">
                <a:solidFill>
                  <a:schemeClr val="tx1"/>
                </a:solidFill>
              </a:rPr>
              <a:t>Fred Hutchinson Cancer Center</a:t>
            </a:r>
          </a:p>
          <a:p>
            <a:endParaRPr lang="en-US" sz="1400" dirty="0">
              <a:solidFill>
                <a:schemeClr val="tx1"/>
              </a:solidFill>
            </a:endParaRPr>
          </a:p>
          <a:p>
            <a:r>
              <a:rPr lang="en-US" sz="1400" b="1" dirty="0">
                <a:solidFill>
                  <a:schemeClr val="tx1"/>
                </a:solidFill>
              </a:rPr>
              <a:t>Shuyi Ma, Ph.D.</a:t>
            </a:r>
          </a:p>
          <a:p>
            <a:r>
              <a:rPr lang="en-US" sz="1400" i="1" dirty="0">
                <a:solidFill>
                  <a:schemeClr val="tx1"/>
                </a:solidFill>
              </a:rPr>
              <a:t>Seattle Children’s Research Institute</a:t>
            </a:r>
          </a:p>
          <a:p>
            <a:endParaRPr lang="en-US" sz="1400" dirty="0">
              <a:solidFill>
                <a:schemeClr val="tx1"/>
              </a:solidFill>
            </a:endParaRPr>
          </a:p>
          <a:p>
            <a:r>
              <a:rPr lang="en-US" sz="1400" b="1" dirty="0">
                <a:solidFill>
                  <a:schemeClr val="tx1"/>
                </a:solidFill>
              </a:rPr>
              <a:t>Brian Aldana, Ph.D.</a:t>
            </a:r>
          </a:p>
          <a:p>
            <a:r>
              <a:rPr lang="en-US" sz="1400" b="1" dirty="0">
                <a:solidFill>
                  <a:schemeClr val="tx1"/>
                </a:solidFill>
              </a:rPr>
              <a:t>Mark Warden, Ph.D.</a:t>
            </a:r>
          </a:p>
          <a:p>
            <a:r>
              <a:rPr lang="en-US" sz="1400" b="1" dirty="0">
                <a:solidFill>
                  <a:schemeClr val="tx1"/>
                </a:solidFill>
              </a:rPr>
              <a:t>Patrick Phillips, Ph.D.</a:t>
            </a:r>
          </a:p>
          <a:p>
            <a:r>
              <a:rPr lang="en-US" sz="1400" i="1" dirty="0">
                <a:solidFill>
                  <a:schemeClr val="tx1"/>
                </a:solidFill>
              </a:rPr>
              <a:t>UCSF Center for Tuberculosis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4B6D918-6E0E-2A3E-699A-C0A570134B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17550" y="3680497"/>
            <a:ext cx="4472721" cy="1952274"/>
          </a:xfrm>
        </p:spPr>
        <p:txBody>
          <a:bodyPr>
            <a:normAutofit/>
          </a:bodyPr>
          <a:lstStyle/>
          <a:p>
            <a:r>
              <a:rPr lang="en-US" sz="4467" dirty="0">
                <a:solidFill>
                  <a:schemeClr val="tx1"/>
                </a:solidFill>
                <a:latin typeface="+mj-lt"/>
              </a:rPr>
              <a:t>TB </a:t>
            </a:r>
            <a:r>
              <a:rPr lang="en-US" sz="4467" dirty="0" err="1">
                <a:solidFill>
                  <a:schemeClr val="tx1"/>
                </a:solidFill>
                <a:latin typeface="+mj-lt"/>
              </a:rPr>
              <a:t>Hackday</a:t>
            </a:r>
            <a:br>
              <a:rPr lang="en-US" sz="4467" dirty="0">
                <a:solidFill>
                  <a:schemeClr val="tx1"/>
                </a:solidFill>
                <a:latin typeface="+mj-lt"/>
              </a:rPr>
            </a:br>
            <a:r>
              <a:rPr lang="en-US" sz="2000" b="0" dirty="0">
                <a:solidFill>
                  <a:schemeClr val="tx1"/>
                </a:solidFill>
                <a:latin typeface="+mj-lt"/>
              </a:rPr>
              <a:t>February 11, 2025</a:t>
            </a:r>
            <a:endParaRPr lang="en-US" sz="2067" dirty="0">
              <a:solidFill>
                <a:schemeClr val="tx1"/>
              </a:solidFill>
              <a:latin typeface="+mj-lt"/>
            </a:endParaRPr>
          </a:p>
        </p:txBody>
      </p:sp>
      <p:pic>
        <p:nvPicPr>
          <p:cNvPr id="4" name="Picture 3" descr="Logo&#10;&#10;Description automatically generated">
            <a:extLst>
              <a:ext uri="{FF2B5EF4-FFF2-40B4-BE49-F238E27FC236}">
                <a16:creationId xmlns:a16="http://schemas.microsoft.com/office/drawing/2014/main" id="{EB2BAFA1-4C79-76C6-EC4D-3ED1957F1D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2822" y="83561"/>
            <a:ext cx="3434745" cy="1132092"/>
          </a:xfrm>
          <a:prstGeom prst="rect">
            <a:avLst/>
          </a:prstGeom>
        </p:spPr>
      </p:pic>
      <p:pic>
        <p:nvPicPr>
          <p:cNvPr id="5" name="Picture 2">
            <a:extLst>
              <a:ext uri="{FF2B5EF4-FFF2-40B4-BE49-F238E27FC236}">
                <a16:creationId xmlns:a16="http://schemas.microsoft.com/office/drawing/2014/main" id="{7B1C0B33-8F13-7808-4EF6-5D50ECC086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04911" y="2238979"/>
            <a:ext cx="1660842" cy="8168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3">
            <a:extLst>
              <a:ext uri="{FF2B5EF4-FFF2-40B4-BE49-F238E27FC236}">
                <a16:creationId xmlns:a16="http://schemas.microsoft.com/office/drawing/2014/main" id="{9CE16E0E-A06C-0D86-C447-5AE6D75B0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09547" y="1276412"/>
            <a:ext cx="3007909" cy="768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Fred Hutch on LinkedIn: Our new logo design was thoughtfully developed with  elements that pay…">
            <a:extLst>
              <a:ext uri="{FF2B5EF4-FFF2-40B4-BE49-F238E27FC236}">
                <a16:creationId xmlns:a16="http://schemas.microsoft.com/office/drawing/2014/main" id="{F298ED64-714D-E573-C435-94719557788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16" t="24282" r="5203" b="22385"/>
          <a:stretch/>
        </p:blipFill>
        <p:spPr bwMode="auto">
          <a:xfrm>
            <a:off x="9421536" y="3223297"/>
            <a:ext cx="2706031" cy="914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 descr="A purple sign with white text&#10;&#10;Description automatically generated">
            <a:extLst>
              <a:ext uri="{FF2B5EF4-FFF2-40B4-BE49-F238E27FC236}">
                <a16:creationId xmlns:a16="http://schemas.microsoft.com/office/drawing/2014/main" id="{0491F2B0-F11B-28FC-AF8F-27FFC74FE8CE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7378" y="838837"/>
            <a:ext cx="2933063" cy="293306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E5AC829-32A0-96DF-7C3E-8322F8A9C0CF}"/>
              </a:ext>
            </a:extLst>
          </p:cNvPr>
          <p:cNvSpPr txBox="1"/>
          <p:nvPr/>
        </p:nvSpPr>
        <p:spPr>
          <a:xfrm>
            <a:off x="3717550" y="6395440"/>
            <a:ext cx="4545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Thanks to Jordan McCrary for help organizing! 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7D40FED-3B51-B5DE-AE8F-B6CA02B1BE10}"/>
              </a:ext>
            </a:extLst>
          </p:cNvPr>
          <p:cNvGrpSpPr/>
          <p:nvPr/>
        </p:nvGrpSpPr>
        <p:grpSpPr>
          <a:xfrm>
            <a:off x="10078546" y="4341229"/>
            <a:ext cx="1938910" cy="551034"/>
            <a:chOff x="450020" y="1819627"/>
            <a:chExt cx="1938910" cy="551034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77A895A-3278-23AF-F56D-C3C9B148C354}"/>
                </a:ext>
              </a:extLst>
            </p:cNvPr>
            <p:cNvSpPr/>
            <p:nvPr/>
          </p:nvSpPr>
          <p:spPr>
            <a:xfrm>
              <a:off x="450020" y="1819627"/>
              <a:ext cx="1938910" cy="551034"/>
            </a:xfrm>
            <a:prstGeom prst="rect">
              <a:avLst/>
            </a:prstGeom>
            <a:solidFill>
              <a:srgbClr val="00206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26" name="Picture 2" descr="Emory University">
              <a:extLst>
                <a:ext uri="{FF2B5EF4-FFF2-40B4-BE49-F238E27FC236}">
                  <a16:creationId xmlns:a16="http://schemas.microsoft.com/office/drawing/2014/main" id="{415BCF04-2F72-BDCB-00B7-C372B981B04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0020" y="1880386"/>
              <a:ext cx="1864219" cy="42951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028" name="Picture 4">
            <a:extLst>
              <a:ext uri="{FF2B5EF4-FFF2-40B4-BE49-F238E27FC236}">
                <a16:creationId xmlns:a16="http://schemas.microsoft.com/office/drawing/2014/main" id="{58A8CDDB-E05B-5015-EEF1-5FA232F9F8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81265" y="5235839"/>
            <a:ext cx="2200623" cy="5745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A16754E8-AB2B-6894-FE9C-CA4A74F7F12F}"/>
              </a:ext>
            </a:extLst>
          </p:cNvPr>
          <p:cNvGrpSpPr/>
          <p:nvPr/>
        </p:nvGrpSpPr>
        <p:grpSpPr>
          <a:xfrm>
            <a:off x="10683671" y="6066619"/>
            <a:ext cx="1259094" cy="551034"/>
            <a:chOff x="7942355" y="4295268"/>
            <a:chExt cx="1259094" cy="551034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E0E3B9E-89AA-EA93-A11A-9404BD73CD2B}"/>
                </a:ext>
              </a:extLst>
            </p:cNvPr>
            <p:cNvSpPr/>
            <p:nvPr/>
          </p:nvSpPr>
          <p:spPr>
            <a:xfrm>
              <a:off x="7942355" y="4295268"/>
              <a:ext cx="1259094" cy="551034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30" name="Picture 6" descr="TRAC">
              <a:extLst>
                <a:ext uri="{FF2B5EF4-FFF2-40B4-BE49-F238E27FC236}">
                  <a16:creationId xmlns:a16="http://schemas.microsoft.com/office/drawing/2014/main" id="{817EB04D-8C64-546E-4C98-DF5E03AC3C8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29215" y="4344123"/>
              <a:ext cx="1105193" cy="464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1526024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4F5C09B4-32D2-46D9-B082-32537DF56D26}"/>
              </a:ext>
            </a:extLst>
          </p:cNvPr>
          <p:cNvSpPr txBox="1"/>
          <p:nvPr/>
        </p:nvSpPr>
        <p:spPr>
          <a:xfrm>
            <a:off x="306671" y="230276"/>
            <a:ext cx="58816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+mj-lt"/>
                <a:cs typeface="Arial" panose="020B0604020202020204" pitchFamily="34" charset="0"/>
              </a:rPr>
              <a:t>WHO Global Tuberculosis Report 2023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5B1908-5A22-9937-4236-7133897B0BD4}"/>
              </a:ext>
            </a:extLst>
          </p:cNvPr>
          <p:cNvSpPr txBox="1"/>
          <p:nvPr/>
        </p:nvSpPr>
        <p:spPr>
          <a:xfrm>
            <a:off x="306671" y="851787"/>
            <a:ext cx="5640646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33363" indent="-233363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+mj-lt"/>
                <a:cs typeface="Arial" panose="020B0604020202020204" pitchFamily="34" charset="0"/>
              </a:rPr>
              <a:t>TB notifications are rising since the COVID pandemic interrupted health services</a:t>
            </a:r>
          </a:p>
          <a:p>
            <a:pPr marL="233363" indent="-233363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+mj-lt"/>
                <a:cs typeface="Arial" panose="020B0604020202020204" pitchFamily="34" charset="0"/>
              </a:rPr>
              <a:t>Under-diagnosed and under-treated TB led to an increase in TB deaths during pandemic</a:t>
            </a:r>
          </a:p>
          <a:p>
            <a:pPr marL="233363" indent="-233363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800" dirty="0">
                <a:latin typeface="+mj-lt"/>
                <a:cs typeface="Arial" panose="020B0604020202020204" pitchFamily="34" charset="0"/>
              </a:rPr>
              <a:t>Comparatively COVID-19 deaths were 3.5 M and 1.2 M in 2021 and 2022</a:t>
            </a:r>
            <a:endParaRPr lang="en-US" dirty="0">
              <a:latin typeface="+mj-lt"/>
              <a:cs typeface="Arial" panose="020B0604020202020204" pitchFamily="34" charset="0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D058BA33-7CF8-40FE-2BA1-FDBD0CD2866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44377" y="6048574"/>
            <a:ext cx="1857861" cy="56919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7A73EB6-8EC6-BE7B-524E-34596641CADE}"/>
              </a:ext>
            </a:extLst>
          </p:cNvPr>
          <p:cNvSpPr txBox="1"/>
          <p:nvPr/>
        </p:nvSpPr>
        <p:spPr>
          <a:xfrm>
            <a:off x="7264842" y="2946410"/>
            <a:ext cx="4081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Global trends in the estimated number of deaths caused by TB and HIV (in millions)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9425563-22EB-B3DB-BFC0-C0C750934462}"/>
              </a:ext>
            </a:extLst>
          </p:cNvPr>
          <p:cNvSpPr txBox="1"/>
          <p:nvPr/>
        </p:nvSpPr>
        <p:spPr>
          <a:xfrm>
            <a:off x="9684913" y="6617764"/>
            <a:ext cx="25550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i="1" dirty="0"/>
              <a:t>WHO Global Tuberculosis Report 2024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CD01CEA-FDB6-0A13-0147-1636B270D769}"/>
              </a:ext>
            </a:extLst>
          </p:cNvPr>
          <p:cNvGrpSpPr/>
          <p:nvPr/>
        </p:nvGrpSpPr>
        <p:grpSpPr>
          <a:xfrm>
            <a:off x="256907" y="3338819"/>
            <a:ext cx="6669864" cy="3094071"/>
            <a:chOff x="334129" y="2384895"/>
            <a:chExt cx="6669864" cy="3094071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55D6AF5B-6048-5025-E266-3780F284A00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52794" y="2467149"/>
              <a:ext cx="6329003" cy="2952136"/>
            </a:xfrm>
            <a:prstGeom prst="rect">
              <a:avLst/>
            </a:prstGeom>
          </p:spPr>
        </p:pic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18DC062E-5C73-8167-5E1A-34A2EED7EBB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8835" y="4348975"/>
              <a:ext cx="6192644" cy="0"/>
            </a:xfrm>
            <a:prstGeom prst="line">
              <a:avLst/>
            </a:prstGeom>
            <a:ln w="28575">
              <a:headEnd type="arrow" w="med" len="med"/>
              <a:tailEnd type="arrow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5ABA026-868D-D0AA-86C6-3BD41605FB16}"/>
                </a:ext>
              </a:extLst>
            </p:cNvPr>
            <p:cNvSpPr txBox="1"/>
            <p:nvPr/>
          </p:nvSpPr>
          <p:spPr>
            <a:xfrm>
              <a:off x="4330248" y="3931930"/>
              <a:ext cx="26737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Avg. 29K weekly TB deaths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FFA176C-F5BB-1642-1DBE-537AA6B0D4AF}"/>
                </a:ext>
              </a:extLst>
            </p:cNvPr>
            <p:cNvSpPr txBox="1"/>
            <p:nvPr/>
          </p:nvSpPr>
          <p:spPr>
            <a:xfrm>
              <a:off x="334129" y="2384895"/>
              <a:ext cx="39042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Global COVID-19 deaths (weekly, WHO)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D02DAC5F-0C0E-0905-154D-2CBEAC92263A}"/>
                </a:ext>
              </a:extLst>
            </p:cNvPr>
            <p:cNvSpPr/>
            <p:nvPr/>
          </p:nvSpPr>
          <p:spPr>
            <a:xfrm>
              <a:off x="341971" y="2384895"/>
              <a:ext cx="6551199" cy="3094071"/>
            </a:xfrm>
            <a:prstGeom prst="rect">
              <a:avLst/>
            </a:prstGeom>
            <a:noFill/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77229CEA-38AC-A6F5-BEC1-FD0F4A9614F1}"/>
              </a:ext>
            </a:extLst>
          </p:cNvPr>
          <p:cNvSpPr txBox="1"/>
          <p:nvPr/>
        </p:nvSpPr>
        <p:spPr>
          <a:xfrm>
            <a:off x="10901967" y="3577155"/>
            <a:ext cx="12749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1.25 M TB deaths in 2023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F192D6A-5D78-6C77-3D1B-170F3DF55C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64842" y="3653514"/>
            <a:ext cx="3564184" cy="20685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2A25F20-0C55-1773-3DFB-36EF06E7CED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0003" y="655245"/>
            <a:ext cx="3601964" cy="210251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CC88C88-CF72-4D44-4511-782097452779}"/>
              </a:ext>
            </a:extLst>
          </p:cNvPr>
          <p:cNvSpPr txBox="1"/>
          <p:nvPr/>
        </p:nvSpPr>
        <p:spPr>
          <a:xfrm>
            <a:off x="7264841" y="44351"/>
            <a:ext cx="4081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Global trends in the estimated number of incident TB cases (in millions)</a:t>
            </a:r>
          </a:p>
        </p:txBody>
      </p:sp>
    </p:spTree>
    <p:extLst>
      <p:ext uri="{BB962C8B-B14F-4D97-AF65-F5344CB8AC3E}">
        <p14:creationId xmlns:p14="http://schemas.microsoft.com/office/powerpoint/2010/main" val="42927525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4F5C09B4-32D2-46D9-B082-32537DF56D26}"/>
              </a:ext>
            </a:extLst>
          </p:cNvPr>
          <p:cNvSpPr txBox="1"/>
          <p:nvPr/>
        </p:nvSpPr>
        <p:spPr>
          <a:xfrm>
            <a:off x="326769" y="325360"/>
            <a:ext cx="78746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+mj-lt"/>
                <a:cs typeface="Arial" panose="020B0604020202020204" pitchFamily="34" charset="0"/>
              </a:rPr>
              <a:t>TB Hack Day Objectives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9F6DE17-E2BF-0E68-D072-8791BCC65834}"/>
              </a:ext>
            </a:extLst>
          </p:cNvPr>
          <p:cNvSpPr txBox="1"/>
          <p:nvPr/>
        </p:nvSpPr>
        <p:spPr>
          <a:xfrm>
            <a:off x="7203810" y="1399417"/>
            <a:ext cx="4885010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2800" b="1" dirty="0">
                <a:latin typeface="+mj-lt"/>
                <a:cs typeface="Arial" panose="020B0604020202020204" pitchFamily="34" charset="0"/>
              </a:rPr>
              <a:t>Specifically learn and teach:</a:t>
            </a:r>
          </a:p>
          <a:p>
            <a:pPr marL="401638" indent="-290513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  <a:cs typeface="Arial" panose="020B0604020202020204" pitchFamily="34" charset="0"/>
              </a:rPr>
              <a:t>TB pathogenesis and treatment</a:t>
            </a:r>
          </a:p>
          <a:p>
            <a:pPr marL="401638" indent="-290513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  <a:cs typeface="Arial" panose="020B0604020202020204" pitchFamily="34" charset="0"/>
              </a:rPr>
              <a:t>Clinical trials</a:t>
            </a:r>
          </a:p>
          <a:p>
            <a:pPr marL="401638" indent="-290513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  <a:cs typeface="Arial" panose="020B0604020202020204" pitchFamily="34" charset="0"/>
              </a:rPr>
              <a:t>Data processing</a:t>
            </a:r>
          </a:p>
          <a:p>
            <a:pPr marL="401638" indent="-290513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  <a:cs typeface="Arial" panose="020B0604020202020204" pitchFamily="34" charset="0"/>
              </a:rPr>
              <a:t>Survival and regression analysis</a:t>
            </a:r>
          </a:p>
          <a:p>
            <a:pPr marL="401638" indent="-290513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800" dirty="0">
                <a:latin typeface="+mj-lt"/>
                <a:cs typeface="Arial" panose="020B0604020202020204" pitchFamily="34" charset="0"/>
              </a:rPr>
              <a:t>R visualization tools</a:t>
            </a:r>
          </a:p>
          <a:p>
            <a:pPr marL="401638" indent="-290513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800" dirty="0">
              <a:latin typeface="+mj-lt"/>
              <a:cs typeface="Arial" panose="020B0604020202020204" pitchFamily="34" charset="0"/>
            </a:endParaRP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22AD5EA2-AAB1-A568-8474-F0849AC4BF6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26500604"/>
              </p:ext>
            </p:extLst>
          </p:nvPr>
        </p:nvGraphicFramePr>
        <p:xfrm>
          <a:off x="0" y="1344921"/>
          <a:ext cx="6921877" cy="488895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1727500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4F5C09B4-32D2-46D9-B082-32537DF56D26}"/>
              </a:ext>
            </a:extLst>
          </p:cNvPr>
          <p:cNvSpPr txBox="1"/>
          <p:nvPr/>
        </p:nvSpPr>
        <p:spPr>
          <a:xfrm>
            <a:off x="228598" y="307439"/>
            <a:ext cx="78746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+mj-lt"/>
                <a:cs typeface="Arial" panose="020B0604020202020204" pitchFamily="34" charset="0"/>
              </a:rPr>
              <a:t>Agenda for today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511FD9A-6C80-05C0-2944-61F43E4AA7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8807367"/>
              </p:ext>
            </p:extLst>
          </p:nvPr>
        </p:nvGraphicFramePr>
        <p:xfrm>
          <a:off x="7134549" y="157009"/>
          <a:ext cx="4777382" cy="4737126"/>
        </p:xfrm>
        <a:graphic>
          <a:graphicData uri="http://schemas.openxmlformats.org/drawingml/2006/table">
            <a:tbl>
              <a:tblPr firstRow="1" firstCol="1" bandRow="1">
                <a:tableStyleId>{793D81CF-94F2-401A-BA57-92F5A7B2D0C5}</a:tableStyleId>
              </a:tblPr>
              <a:tblGrid>
                <a:gridCol w="819279">
                  <a:extLst>
                    <a:ext uri="{9D8B030D-6E8A-4147-A177-3AD203B41FA5}">
                      <a16:colId xmlns:a16="http://schemas.microsoft.com/office/drawing/2014/main" val="4160021003"/>
                    </a:ext>
                  </a:extLst>
                </a:gridCol>
                <a:gridCol w="788551">
                  <a:extLst>
                    <a:ext uri="{9D8B030D-6E8A-4147-A177-3AD203B41FA5}">
                      <a16:colId xmlns:a16="http://schemas.microsoft.com/office/drawing/2014/main" val="1337734181"/>
                    </a:ext>
                  </a:extLst>
                </a:gridCol>
                <a:gridCol w="3169552">
                  <a:extLst>
                    <a:ext uri="{9D8B030D-6E8A-4147-A177-3AD203B41FA5}">
                      <a16:colId xmlns:a16="http://schemas.microsoft.com/office/drawing/2014/main" val="3434740788"/>
                    </a:ext>
                  </a:extLst>
                </a:gridCol>
              </a:tblGrid>
              <a:tr h="364028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cap="none" spc="0" dirty="0">
                          <a:solidFill>
                            <a:schemeClr val="bg1"/>
                          </a:solidFill>
                          <a:effectLst/>
                        </a:rPr>
                        <a:t>East (EST)</a:t>
                      </a:r>
                      <a:endParaRPr lang="en-US" sz="1200" b="0" cap="none" spc="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653" marR="55113" marT="15901" marB="119257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cap="none" spc="0" dirty="0">
                          <a:solidFill>
                            <a:schemeClr val="bg1"/>
                          </a:solidFill>
                          <a:effectLst/>
                        </a:rPr>
                        <a:t>West (PST)</a:t>
                      </a:r>
                      <a:endParaRPr lang="en-US" sz="1200" b="0" cap="none" spc="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653" marR="55113" marT="15901" marB="119257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cap="none" spc="0" dirty="0">
                          <a:solidFill>
                            <a:schemeClr val="bg1"/>
                          </a:solidFill>
                          <a:effectLst/>
                        </a:rPr>
                        <a:t>Activity</a:t>
                      </a:r>
                      <a:endParaRPr lang="en-US" sz="1200" b="0" cap="none" spc="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653" marR="55113" marT="15901" marB="119257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87678022"/>
                  </a:ext>
                </a:extLst>
              </a:tr>
              <a:tr h="493127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cap="none" spc="0" dirty="0">
                          <a:solidFill>
                            <a:schemeClr val="tx1"/>
                          </a:solidFill>
                          <a:effectLst/>
                        </a:rPr>
                        <a:t>9:00 AM</a:t>
                      </a:r>
                      <a:endParaRPr lang="en-US" sz="1200" b="0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653" marR="55113" marT="15901" marB="11925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b="0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653" marR="55113" marT="15901" marB="11925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cap="none" spc="0" dirty="0">
                          <a:solidFill>
                            <a:schemeClr val="tx1"/>
                          </a:solidFill>
                          <a:effectLst/>
                        </a:rPr>
                        <a:t>Opening remarks</a:t>
                      </a:r>
                      <a:br>
                        <a:rPr lang="en-US" sz="1200" b="0" cap="none" spc="0" dirty="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sz="1200" b="0" cap="none" spc="0" dirty="0">
                          <a:solidFill>
                            <a:schemeClr val="tx1"/>
                          </a:solidFill>
                          <a:effectLst/>
                        </a:rPr>
                        <a:t>(Shuyi Ma)</a:t>
                      </a:r>
                      <a:endParaRPr lang="en-US" sz="1200" b="0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653" marR="55113" marT="15901" marB="11925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12387594"/>
                  </a:ext>
                </a:extLst>
              </a:tr>
              <a:tr h="493127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cap="none" spc="0" dirty="0">
                          <a:solidFill>
                            <a:schemeClr val="tx1"/>
                          </a:solidFill>
                          <a:effectLst/>
                        </a:rPr>
                        <a:t>9:10</a:t>
                      </a:r>
                      <a:endParaRPr lang="en-US" sz="1200" b="0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653" marR="55113" marT="15901" marB="11925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b="0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653" marR="55113" marT="15901" marB="11925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cap="none" spc="0" dirty="0">
                          <a:solidFill>
                            <a:schemeClr val="tx1"/>
                          </a:solidFill>
                          <a:effectLst/>
                        </a:rPr>
                        <a:t>Drs. Mark Warden and Brian Aldana present analysis examples from TB-PACTS dataset</a:t>
                      </a:r>
                      <a:endParaRPr lang="en-US" sz="1200" b="0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653" marR="55113" marT="15901" marB="11925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72703223"/>
                  </a:ext>
                </a:extLst>
              </a:tr>
              <a:tr h="474839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cap="none" spc="0" dirty="0">
                          <a:solidFill>
                            <a:schemeClr val="tx1"/>
                          </a:solidFill>
                          <a:effectLst/>
                        </a:rPr>
                        <a:t>9:40</a:t>
                      </a:r>
                      <a:endParaRPr lang="en-US" sz="1200" b="0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653" marR="55113" marT="15901" marB="11925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b="0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653" marR="55113" marT="15901" marB="11925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cap="none" spc="0" dirty="0">
                          <a:solidFill>
                            <a:schemeClr val="tx1"/>
                          </a:solidFill>
                          <a:effectLst/>
                        </a:rPr>
                        <a:t>Hack day plan with Q&amp;A (Andrew Fiore-Gartland)</a:t>
                      </a:r>
                      <a:endParaRPr lang="en-US" sz="1200" b="0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653" marR="55113" marT="15901" marB="11925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57449692"/>
                  </a:ext>
                </a:extLst>
              </a:tr>
              <a:tr h="306794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cap="none" spc="0" dirty="0">
                          <a:solidFill>
                            <a:schemeClr val="tx1"/>
                          </a:solidFill>
                          <a:effectLst/>
                        </a:rPr>
                        <a:t>10:00</a:t>
                      </a:r>
                      <a:endParaRPr lang="en-US" sz="1200" b="0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653" marR="55113" marT="15901" marB="11925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b="0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653" marR="55113" marT="15901" marB="11925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501650" marR="0" indent="-50546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cap="none" spc="0" dirty="0">
                          <a:solidFill>
                            <a:schemeClr val="tx1"/>
                          </a:solidFill>
                          <a:effectLst/>
                        </a:rPr>
                        <a:t>Break into groups for open hack time</a:t>
                      </a:r>
                      <a:endParaRPr lang="en-US" sz="1200" b="0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653" marR="55113" marT="15901" marB="11925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39234150"/>
                  </a:ext>
                </a:extLst>
              </a:tr>
              <a:tr h="312828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b="0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653" marR="55113" marT="15901" marB="11925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cap="none" spc="0" dirty="0">
                          <a:solidFill>
                            <a:schemeClr val="tx1"/>
                          </a:solidFill>
                          <a:effectLst/>
                        </a:rPr>
                        <a:t>8:30 AM</a:t>
                      </a:r>
                      <a:endParaRPr lang="en-US" sz="1200" b="0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653" marR="55113" marT="15901" marB="11925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cap="none" spc="0" dirty="0">
                          <a:solidFill>
                            <a:schemeClr val="tx1"/>
                          </a:solidFill>
                          <a:effectLst/>
                        </a:rPr>
                        <a:t>Gather with coffee and light breakfast</a:t>
                      </a:r>
                      <a:endParaRPr lang="en-US" sz="1200" b="0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653" marR="55113" marT="15901" marB="11925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42722584"/>
                  </a:ext>
                </a:extLst>
              </a:tr>
              <a:tr h="511511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b="0" cap="none" spc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653" marR="55113" marT="15901" marB="11925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cap="none" spc="0" dirty="0">
                          <a:solidFill>
                            <a:schemeClr val="tx1"/>
                          </a:solidFill>
                          <a:effectLst/>
                        </a:rPr>
                        <a:t>9:00</a:t>
                      </a:r>
                      <a:endParaRPr lang="en-US" sz="1200" b="0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653" marR="55113" marT="15901" marB="11925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cap="none" spc="0" dirty="0">
                          <a:solidFill>
                            <a:schemeClr val="tx1"/>
                          </a:solidFill>
                          <a:effectLst/>
                        </a:rPr>
                        <a:t>Repeat opening talks for Seattle/UCSF</a:t>
                      </a:r>
                      <a:endParaRPr lang="en-US" sz="1200" b="0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653" marR="55113" marT="15901" marB="11925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87370553"/>
                  </a:ext>
                </a:extLst>
              </a:tr>
              <a:tr h="493127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b="0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653" marR="55113" marT="15901" marB="11925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cap="none" spc="0" dirty="0">
                          <a:solidFill>
                            <a:schemeClr val="tx1"/>
                          </a:solidFill>
                          <a:effectLst/>
                        </a:rPr>
                        <a:t>10:00</a:t>
                      </a:r>
                      <a:endParaRPr lang="en-US" sz="1200" b="0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653" marR="55113" marT="15901" marB="11925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cap="none" spc="0" dirty="0">
                          <a:solidFill>
                            <a:schemeClr val="tx1"/>
                          </a:solidFill>
                          <a:effectLst/>
                        </a:rPr>
                        <a:t>Break into groups for open hack time</a:t>
                      </a:r>
                      <a:endParaRPr lang="en-US" sz="1200" b="0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cap="none" spc="0" dirty="0">
                          <a:solidFill>
                            <a:schemeClr val="tx1"/>
                          </a:solidFill>
                          <a:effectLst/>
                        </a:rPr>
                        <a:t>in Seattle</a:t>
                      </a:r>
                      <a:endParaRPr lang="en-US" sz="1200" b="0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653" marR="55113" marT="15901" marB="11925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37203952"/>
                  </a:ext>
                </a:extLst>
              </a:tr>
              <a:tr h="679459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cap="none" spc="0" dirty="0">
                          <a:solidFill>
                            <a:schemeClr val="tx1"/>
                          </a:solidFill>
                          <a:effectLst/>
                        </a:rPr>
                        <a:t>3:00 PM</a:t>
                      </a:r>
                      <a:endParaRPr lang="en-US" sz="1200" b="0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653" marR="55113" marT="15901" marB="11925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cap="none" spc="0" dirty="0">
                          <a:solidFill>
                            <a:schemeClr val="tx1"/>
                          </a:solidFill>
                          <a:effectLst/>
                        </a:rPr>
                        <a:t>12:00 PM</a:t>
                      </a:r>
                      <a:endParaRPr lang="en-US" sz="1200" b="0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653" marR="55113" marT="15901" marB="11925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cap="none" spc="0" dirty="0">
                          <a:solidFill>
                            <a:schemeClr val="tx1"/>
                          </a:solidFill>
                          <a:effectLst/>
                        </a:rPr>
                        <a:t>JOINT</a:t>
                      </a:r>
                      <a:br>
                        <a:rPr lang="en-US" sz="1200" b="0" cap="none" spc="0" dirty="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sz="1200" b="0" cap="none" spc="0" dirty="0">
                          <a:solidFill>
                            <a:schemeClr val="tx1"/>
                          </a:solidFill>
                          <a:effectLst/>
                        </a:rPr>
                        <a:t>Small group readouts from EDT group: Each group shares processing and analysis findings</a:t>
                      </a:r>
                      <a:endParaRPr lang="en-US" sz="1200" b="0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653" marR="55113" marT="15901" marB="11925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81892035"/>
                  </a:ext>
                </a:extLst>
              </a:tr>
              <a:tr h="474839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b="0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653" marR="55113" marT="15901" marB="11925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cap="none" spc="0" dirty="0">
                          <a:solidFill>
                            <a:schemeClr val="tx1"/>
                          </a:solidFill>
                          <a:effectLst/>
                        </a:rPr>
                        <a:t>3:00</a:t>
                      </a:r>
                      <a:endParaRPr lang="en-US" sz="1200" b="0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653" marR="55113" marT="15901" marB="11925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cap="none" spc="0" dirty="0">
                          <a:solidFill>
                            <a:schemeClr val="tx1"/>
                          </a:solidFill>
                          <a:effectLst/>
                        </a:rPr>
                        <a:t>Small group readouts from Seattle/UCSF</a:t>
                      </a:r>
                      <a:endParaRPr lang="en-US" sz="1200" b="0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653" marR="55113" marT="15901" marB="11925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01497483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491BFC1C-325A-D92A-0FD4-9371AEA3D06F}"/>
              </a:ext>
            </a:extLst>
          </p:cNvPr>
          <p:cNvSpPr txBox="1"/>
          <p:nvPr/>
        </p:nvSpPr>
        <p:spPr>
          <a:xfrm>
            <a:off x="228598" y="920621"/>
            <a:ext cx="6410632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3363" indent="-233363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j-lt"/>
                <a:cs typeface="Arial" panose="020B0604020202020204" pitchFamily="34" charset="0"/>
              </a:rPr>
              <a:t>Feel free to come and go, change seats, move rooms, go for a walk, etc.</a:t>
            </a:r>
          </a:p>
          <a:p>
            <a:pPr marL="233363" indent="-233363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j-lt"/>
                <a:cs typeface="Arial" panose="020B0604020202020204" pitchFamily="34" charset="0"/>
              </a:rPr>
              <a:t>Small groups are meant to facilitate conversation and collaboration; use them as much or as little as you want</a:t>
            </a:r>
          </a:p>
          <a:p>
            <a:pPr marL="233363" indent="-233363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j-lt"/>
                <a:cs typeface="Arial" panose="020B0604020202020204" pitchFamily="34" charset="0"/>
              </a:rPr>
              <a:t>Be open, curious, inclusive,  respectful!</a:t>
            </a:r>
          </a:p>
          <a:p>
            <a:pPr marL="233363" indent="-233363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j-lt"/>
                <a:cs typeface="Arial" panose="020B0604020202020204" pitchFamily="34" charset="0"/>
              </a:rPr>
              <a:t>Let’s make this the best that science can be:</a:t>
            </a:r>
            <a:br>
              <a:rPr lang="en-US" sz="2000" dirty="0">
                <a:latin typeface="+mj-lt"/>
                <a:cs typeface="Arial" panose="020B0604020202020204" pitchFamily="34" charset="0"/>
              </a:rPr>
            </a:br>
            <a:r>
              <a:rPr lang="en-US" sz="2000" dirty="0">
                <a:latin typeface="+mj-lt"/>
                <a:cs typeface="Arial" panose="020B0604020202020204" pitchFamily="34" charset="0"/>
              </a:rPr>
              <a:t>Free food + free flow of thoughts and ideas</a:t>
            </a:r>
          </a:p>
          <a:p>
            <a:pPr marL="233363" indent="-233363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i="1" dirty="0">
                <a:latin typeface="+mj-lt"/>
                <a:cs typeface="Arial" panose="020B0604020202020204" pitchFamily="34" charset="0"/>
              </a:rPr>
              <a:t>Code of conduct</a:t>
            </a:r>
            <a:r>
              <a:rPr lang="en-US" sz="2000" dirty="0">
                <a:latin typeface="+mj-lt"/>
                <a:cs typeface="Arial" panose="020B0604020202020204" pitchFamily="34" charset="0"/>
              </a:rPr>
              <a:t>: We’re committed to hosting TB </a:t>
            </a:r>
            <a:r>
              <a:rPr lang="en-US" sz="2000" dirty="0" err="1">
                <a:latin typeface="+mj-lt"/>
                <a:cs typeface="Arial" panose="020B0604020202020204" pitchFamily="34" charset="0"/>
              </a:rPr>
              <a:t>Hackday</a:t>
            </a:r>
            <a:r>
              <a:rPr lang="en-US" sz="2000" dirty="0">
                <a:latin typeface="+mj-lt"/>
                <a:cs typeface="Arial" panose="020B0604020202020204" pitchFamily="34" charset="0"/>
              </a:rPr>
              <a:t> as an inclusive and </a:t>
            </a:r>
            <a:r>
              <a:rPr lang="en-US" sz="2000" b="0" i="0" dirty="0">
                <a:solidFill>
                  <a:srgbClr val="222832"/>
                </a:solidFill>
                <a:effectLst/>
                <a:latin typeface="-apple-system"/>
              </a:rPr>
              <a:t>harassment-free learning experience for everyone.</a:t>
            </a:r>
            <a:endParaRPr lang="en-US" sz="200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EBA672-C340-C2EA-3D3D-4237C135BC84}"/>
              </a:ext>
            </a:extLst>
          </p:cNvPr>
          <p:cNvSpPr/>
          <p:nvPr/>
        </p:nvSpPr>
        <p:spPr>
          <a:xfrm>
            <a:off x="519553" y="5278322"/>
            <a:ext cx="10917704" cy="147051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b="1" dirty="0">
                <a:solidFill>
                  <a:schemeClr val="tx1"/>
                </a:solidFill>
              </a:rPr>
              <a:t>TB </a:t>
            </a:r>
            <a:r>
              <a:rPr lang="en-US" b="1" dirty="0" err="1">
                <a:solidFill>
                  <a:schemeClr val="tx1"/>
                </a:solidFill>
              </a:rPr>
              <a:t>Hackday</a:t>
            </a:r>
            <a:r>
              <a:rPr lang="en-US" b="1" dirty="0">
                <a:solidFill>
                  <a:schemeClr val="tx1"/>
                </a:solidFill>
              </a:rPr>
              <a:t> participants have full access to the TB-PACTS repository for the day. The data is anonymized, but should not be posted publicly or downloaded to your computer.</a:t>
            </a:r>
          </a:p>
          <a:p>
            <a:pPr algn="ctr">
              <a:spcAft>
                <a:spcPts val="600"/>
              </a:spcAft>
            </a:pPr>
            <a:r>
              <a:rPr lang="en-US" b="1" dirty="0">
                <a:solidFill>
                  <a:schemeClr val="tx1"/>
                </a:solidFill>
              </a:rPr>
              <a:t>Registration (free) is required for access beyond the hack day (https://c-path.org/tools-platforms/tb-pacts/) </a:t>
            </a:r>
          </a:p>
        </p:txBody>
      </p:sp>
    </p:spTree>
    <p:extLst>
      <p:ext uri="{BB962C8B-B14F-4D97-AF65-F5344CB8AC3E}">
        <p14:creationId xmlns:p14="http://schemas.microsoft.com/office/powerpoint/2010/main" val="38325496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C9B916-9246-9E0A-D28F-2CB4C3B8A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0B80B6D2-EDE8-EC31-FE7B-2850F4D0203A}"/>
              </a:ext>
            </a:extLst>
          </p:cNvPr>
          <p:cNvSpPr txBox="1"/>
          <p:nvPr/>
        </p:nvSpPr>
        <p:spPr>
          <a:xfrm>
            <a:off x="228598" y="307439"/>
            <a:ext cx="78746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err="1">
                <a:latin typeface="+mj-lt"/>
                <a:cs typeface="Arial" panose="020B0604020202020204" pitchFamily="34" charset="0"/>
              </a:rPr>
              <a:t>Rstudio</a:t>
            </a:r>
            <a:r>
              <a:rPr lang="en-US" sz="2800" b="1" dirty="0">
                <a:latin typeface="+mj-lt"/>
                <a:cs typeface="Arial" panose="020B0604020202020204" pitchFamily="34" charset="0"/>
              </a:rPr>
              <a:t> server info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848F85-EADF-237E-A01F-49649DCEB583}"/>
              </a:ext>
            </a:extLst>
          </p:cNvPr>
          <p:cNvSpPr txBox="1"/>
          <p:nvPr/>
        </p:nvSpPr>
        <p:spPr>
          <a:xfrm>
            <a:off x="228598" y="830659"/>
            <a:ext cx="10789172" cy="27084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3363" indent="-233363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j-lt"/>
                <a:cs typeface="Arial" panose="020B0604020202020204" pitchFamily="34" charset="0"/>
              </a:rPr>
              <a:t>Server address is posted in slack: login with the username/prefix half of your email (left of @)</a:t>
            </a:r>
          </a:p>
          <a:p>
            <a:pPr marL="233363" indent="-233363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j-lt"/>
                <a:cs typeface="Arial" panose="020B0604020202020204" pitchFamily="34" charset="0"/>
              </a:rPr>
              <a:t>Your home folder: </a:t>
            </a:r>
            <a:r>
              <a:rPr lang="en-US" sz="2000" dirty="0">
                <a:highlight>
                  <a:srgbClr val="C0C0C0"/>
                </a:highlight>
                <a:latin typeface="Consolas" panose="020B0609020204030204" pitchFamily="49" charset="0"/>
                <a:cs typeface="Arial" panose="020B0604020202020204" pitchFamily="34" charset="0"/>
              </a:rPr>
              <a:t>/home/[USERNAME] </a:t>
            </a:r>
            <a:r>
              <a:rPr lang="en-US" sz="2000" dirty="0">
                <a:latin typeface="+mj-lt"/>
                <a:cs typeface="Arial" panose="020B0604020202020204" pitchFamily="34" charset="0"/>
              </a:rPr>
              <a:t>(</a:t>
            </a:r>
            <a:r>
              <a:rPr lang="en-US" sz="2000" dirty="0" err="1">
                <a:latin typeface="+mj-lt"/>
                <a:cs typeface="Arial" panose="020B0604020202020204" pitchFamily="34" charset="0"/>
              </a:rPr>
              <a:t>read+write</a:t>
            </a:r>
            <a:r>
              <a:rPr lang="en-US" sz="2000" dirty="0">
                <a:latin typeface="+mj-lt"/>
                <a:cs typeface="Arial" panose="020B0604020202020204" pitchFamily="34" charset="0"/>
              </a:rPr>
              <a:t> access)</a:t>
            </a:r>
          </a:p>
          <a:p>
            <a:pPr marL="233363" indent="-233363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j-lt"/>
                <a:cs typeface="Arial" panose="020B0604020202020204" pitchFamily="34" charset="0"/>
              </a:rPr>
              <a:t>Tool repo is cloned in your home folder: </a:t>
            </a:r>
            <a:r>
              <a:rPr lang="en-US" sz="2000" dirty="0">
                <a:highlight>
                  <a:srgbClr val="C0C0C0"/>
                </a:highlight>
                <a:latin typeface="Consolas" panose="020B0609020204030204" pitchFamily="49" charset="0"/>
                <a:cs typeface="Arial" panose="020B0604020202020204" pitchFamily="34" charset="0"/>
              </a:rPr>
              <a:t>~/</a:t>
            </a:r>
            <a:r>
              <a:rPr lang="en-US" sz="2000" dirty="0" err="1">
                <a:highlight>
                  <a:srgbClr val="C0C0C0"/>
                </a:highlight>
                <a:latin typeface="Consolas" panose="020B0609020204030204" pitchFamily="49" charset="0"/>
                <a:cs typeface="Arial" panose="020B0604020202020204" pitchFamily="34" charset="0"/>
              </a:rPr>
              <a:t>tb_pacts_tools</a:t>
            </a:r>
            <a:endParaRPr lang="en-US" sz="2000" dirty="0">
              <a:highlight>
                <a:srgbClr val="C0C0C0"/>
              </a:highlight>
              <a:latin typeface="Consolas" panose="020B0609020204030204" pitchFamily="49" charset="0"/>
              <a:cs typeface="Arial" panose="020B0604020202020204" pitchFamily="34" charset="0"/>
            </a:endParaRPr>
          </a:p>
          <a:p>
            <a:pPr marL="233363" indent="-233363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j-lt"/>
                <a:cs typeface="Arial" panose="020B0604020202020204" pitchFamily="34" charset="0"/>
              </a:rPr>
              <a:t>Data folder: </a:t>
            </a:r>
            <a:r>
              <a:rPr lang="en-US" sz="2000" dirty="0">
                <a:highlight>
                  <a:srgbClr val="C0C0C0"/>
                </a:highlight>
                <a:latin typeface="Consolas" panose="020B0609020204030204" pitchFamily="49" charset="0"/>
                <a:cs typeface="Arial" panose="020B0604020202020204" pitchFamily="34" charset="0"/>
              </a:rPr>
              <a:t>/home/TB-PACTS </a:t>
            </a:r>
            <a:r>
              <a:rPr lang="en-US" sz="2000" dirty="0">
                <a:latin typeface="+mj-lt"/>
                <a:cs typeface="Arial" panose="020B0604020202020204" pitchFamily="34" charset="0"/>
              </a:rPr>
              <a:t>(read-only access)</a:t>
            </a:r>
          </a:p>
          <a:p>
            <a:pPr marL="233363" indent="-233363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j-lt"/>
                <a:cs typeface="Arial" panose="020B0604020202020204" pitchFamily="34" charset="0"/>
              </a:rPr>
              <a:t>Shared </a:t>
            </a:r>
            <a:r>
              <a:rPr lang="en-US" sz="2000" dirty="0" err="1">
                <a:latin typeface="+mj-lt"/>
                <a:cs typeface="Arial" panose="020B0604020202020204" pitchFamily="34" charset="0"/>
              </a:rPr>
              <a:t>adata</a:t>
            </a:r>
            <a:r>
              <a:rPr lang="en-US" sz="2000" dirty="0">
                <a:latin typeface="+mj-lt"/>
                <a:cs typeface="Arial" panose="020B0604020202020204" pitchFamily="34" charset="0"/>
              </a:rPr>
              <a:t> folder: </a:t>
            </a:r>
            <a:r>
              <a:rPr lang="en-US" sz="2000" dirty="0">
                <a:highlight>
                  <a:srgbClr val="C0C0C0"/>
                </a:highlight>
                <a:latin typeface="Consolas" panose="020B0609020204030204" pitchFamily="49" charset="0"/>
                <a:cs typeface="Arial" panose="020B0604020202020204" pitchFamily="34" charset="0"/>
              </a:rPr>
              <a:t>/home/shared</a:t>
            </a:r>
            <a:r>
              <a:rPr lang="en-US" sz="2000" dirty="0">
                <a:highlight>
                  <a:srgbClr val="C0C0C0"/>
                </a:highlight>
                <a:latin typeface="+mj-lt"/>
                <a:cs typeface="Arial" panose="020B0604020202020204" pitchFamily="34" charset="0"/>
              </a:rPr>
              <a:t> </a:t>
            </a:r>
            <a:r>
              <a:rPr lang="en-US" sz="2000" dirty="0">
                <a:latin typeface="+mj-lt"/>
                <a:cs typeface="Arial" panose="020B0604020202020204" pitchFamily="34" charset="0"/>
              </a:rPr>
              <a:t>(</a:t>
            </a:r>
            <a:r>
              <a:rPr lang="en-US" sz="2000" dirty="0" err="1">
                <a:latin typeface="+mj-lt"/>
                <a:cs typeface="Arial" panose="020B0604020202020204" pitchFamily="34" charset="0"/>
              </a:rPr>
              <a:t>read+write</a:t>
            </a:r>
            <a:r>
              <a:rPr lang="en-US" sz="2000" dirty="0">
                <a:latin typeface="+mj-lt"/>
                <a:cs typeface="Arial" panose="020B0604020202020204" pitchFamily="34" charset="0"/>
              </a:rPr>
              <a:t> access)</a:t>
            </a:r>
          </a:p>
          <a:p>
            <a:pPr marL="233363" indent="-233363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j-lt"/>
                <a:cs typeface="Arial" panose="020B0604020202020204" pitchFamily="34" charset="0"/>
              </a:rPr>
              <a:t>Install any packages you need: they will install into your home folder by default 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4EBDC50-9DC4-9005-359D-C8BEAE98F328}"/>
              </a:ext>
            </a:extLst>
          </p:cNvPr>
          <p:cNvGrpSpPr/>
          <p:nvPr/>
        </p:nvGrpSpPr>
        <p:grpSpPr>
          <a:xfrm>
            <a:off x="228598" y="3771999"/>
            <a:ext cx="12028716" cy="3086001"/>
            <a:chOff x="228598" y="3359902"/>
            <a:chExt cx="12028716" cy="3086001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1C612DA-23C6-8D9A-A0D7-A6B13D33AA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67827" y="3359902"/>
              <a:ext cx="8856345" cy="3086001"/>
            </a:xfrm>
            <a:prstGeom prst="rect">
              <a:avLst/>
            </a:prstGeom>
          </p:spPr>
        </p:pic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855372D-AFEC-280E-EA34-E7C90C53AB9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24172" y="5174343"/>
              <a:ext cx="608285" cy="5370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E61E0BCA-616D-1121-6189-B9629374B80E}"/>
                </a:ext>
              </a:extLst>
            </p:cNvPr>
            <p:cNvSpPr txBox="1"/>
            <p:nvPr/>
          </p:nvSpPr>
          <p:spPr>
            <a:xfrm>
              <a:off x="11074399" y="4439811"/>
              <a:ext cx="1182915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Use “…” to change the folder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D2578B05-8D14-8933-35A6-6D1A4E1FC645}"/>
                </a:ext>
              </a:extLst>
            </p:cNvPr>
            <p:cNvCxnSpPr>
              <a:cxnSpLocks/>
            </p:cNvCxnSpPr>
            <p:nvPr/>
          </p:nvCxnSpPr>
          <p:spPr>
            <a:xfrm>
              <a:off x="1248228" y="3548743"/>
              <a:ext cx="936172" cy="312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B760166-0BA4-5B46-2987-A49CADDD329D}"/>
                </a:ext>
              </a:extLst>
            </p:cNvPr>
            <p:cNvSpPr txBox="1"/>
            <p:nvPr/>
          </p:nvSpPr>
          <p:spPr>
            <a:xfrm>
              <a:off x="228598" y="3359902"/>
              <a:ext cx="1084945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Don’t forget you have terminal access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360645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BB2FAB-14ED-2220-440F-9C3310B04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7DCCB0-FD9D-B90D-4BC1-822A1E54E6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484187"/>
          </a:xfrm>
        </p:spPr>
        <p:txBody>
          <a:bodyPr>
            <a:normAutofit fontScale="90000"/>
          </a:bodyPr>
          <a:lstStyle/>
          <a:p>
            <a:r>
              <a:rPr lang="en-US" dirty="0"/>
              <a:t>Study Guide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D8870E-B388-2046-168A-E2FAC6F02B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E8A11-A948-4F76-9026-18B38BBD1BF8}" type="slidenum">
              <a:rPr lang="en-US" smtClean="0"/>
              <a:t>6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1690799-3959-3E13-ABD2-DCBE9F56BB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688" y="1320121"/>
            <a:ext cx="9836989" cy="4937102"/>
          </a:xfrm>
          <a:prstGeom prst="rect">
            <a:avLst/>
          </a:prstGeom>
        </p:spPr>
      </p:pic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49A8437B-983E-B40A-1C2E-91BBEEAD6E8A}"/>
              </a:ext>
            </a:extLst>
          </p:cNvPr>
          <p:cNvSpPr txBox="1">
            <a:spLocks/>
          </p:cNvSpPr>
          <p:nvPr/>
        </p:nvSpPr>
        <p:spPr>
          <a:xfrm>
            <a:off x="810456" y="750209"/>
            <a:ext cx="9947454" cy="48418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5000" lnSpcReduction="10000"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spcBef>
                <a:spcPct val="20000"/>
              </a:spcBef>
              <a:buFont typeface="Courier New" panose="02070309020205020404" pitchFamily="49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highlight>
                  <a:srgbClr val="C0C0C0"/>
                </a:highlight>
                <a:latin typeface="Consolas" panose="020B0609020204030204" pitchFamily="49" charset="0"/>
              </a:rPr>
              <a:t>/home/TB-PACTS/metadata/2025-04-03 Critical Path Trials Overview.xlsx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09A2AFF8-A18C-593D-0A53-C37FBEEDC073}"/>
              </a:ext>
            </a:extLst>
          </p:cNvPr>
          <p:cNvSpPr txBox="1">
            <a:spLocks/>
          </p:cNvSpPr>
          <p:nvPr/>
        </p:nvSpPr>
        <p:spPr>
          <a:xfrm>
            <a:off x="6328912" y="-667412"/>
            <a:ext cx="5386917" cy="48418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62500" lnSpcReduction="20000"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spcBef>
                <a:spcPct val="20000"/>
              </a:spcBef>
              <a:buFont typeface="Courier New" panose="02070309020205020404" pitchFamily="49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/home/TB-PACTS/metadata/2025-04-03 Critical Path Trials Overview.xlsx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3ED5F65F-E2AA-0C78-ED18-7363F4290429}"/>
              </a:ext>
            </a:extLst>
          </p:cNvPr>
          <p:cNvSpPr txBox="1">
            <a:spLocks/>
          </p:cNvSpPr>
          <p:nvPr/>
        </p:nvSpPr>
        <p:spPr>
          <a:xfrm>
            <a:off x="810456" y="6296819"/>
            <a:ext cx="9947454" cy="48418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spcBef>
                <a:spcPct val="20000"/>
              </a:spcBef>
              <a:buFont typeface="Courier New" panose="02070309020205020404" pitchFamily="49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0" dirty="0">
                <a:latin typeface="+mj-lt"/>
              </a:rPr>
              <a:t>Note the “Study ID” for locating the data for each study</a:t>
            </a:r>
          </a:p>
        </p:txBody>
      </p:sp>
    </p:spTree>
    <p:extLst>
      <p:ext uri="{BB962C8B-B14F-4D97-AF65-F5344CB8AC3E}">
        <p14:creationId xmlns:p14="http://schemas.microsoft.com/office/powerpoint/2010/main" val="34584326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9E4AACB-6243-BAAA-A5A9-214D11519B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3828" y="267381"/>
            <a:ext cx="10972800" cy="722208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/>
              <a:t>CDISC: Clinical Trial Data Standards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C26BDF-F173-DEC6-016F-E19A1A9497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6400" y="1103086"/>
            <a:ext cx="6001657" cy="5555291"/>
          </a:xfrm>
        </p:spPr>
        <p:txBody>
          <a:bodyPr>
            <a:normAutofit fontScale="62500" lnSpcReduction="20000"/>
          </a:bodyPr>
          <a:lstStyle/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b="1" dirty="0"/>
              <a:t>Clinical Data Interchange Standards Consortium</a:t>
            </a:r>
            <a:r>
              <a:rPr lang="en-US" dirty="0"/>
              <a:t>: Industry standards for organizing clinical trial data to enable regulatory submissions and data sharing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/>
              <a:t>Key feature is controlled terminology with standardized variable names, domains, and values across all studies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/>
              <a:t>CDISC is REQUIRED by FDA/EMA for new drug applications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b="1" dirty="0"/>
              <a:t>SDTM</a:t>
            </a:r>
            <a:r>
              <a:rPr lang="en-US" dirty="0"/>
              <a:t>: Study data tabulation model: raw datasets (like TB-PACTS)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b="1" dirty="0"/>
              <a:t>ADAM</a:t>
            </a:r>
            <a:r>
              <a:rPr lang="en-US" dirty="0"/>
              <a:t>: analysis ready datasets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b="1" dirty="0"/>
              <a:t>Resources for Learning More</a:t>
            </a:r>
          </a:p>
          <a:p>
            <a:pPr lvl="1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/>
              <a:t>CDISC Official Site: </a:t>
            </a:r>
            <a:r>
              <a:rPr lang="en-US" dirty="0">
                <a:hlinkClick r:id="rId2"/>
              </a:rPr>
              <a:t>https://www.cdisc.org/standards</a:t>
            </a:r>
            <a:endParaRPr lang="en-US" dirty="0"/>
          </a:p>
          <a:p>
            <a:pPr lvl="1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/>
              <a:t>CDISC Library (searchable standards): </a:t>
            </a:r>
            <a:r>
              <a:rPr lang="en-US" dirty="0">
                <a:hlinkClick r:id="rId3"/>
              </a:rPr>
              <a:t>https://www.cdisc.org/cdisc-library</a:t>
            </a:r>
            <a:endParaRPr lang="en-US" dirty="0"/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b="1" dirty="0"/>
              <a:t>Beware</a:t>
            </a:r>
            <a:r>
              <a:rPr lang="en-US" dirty="0"/>
              <a:t>: standardized variable names does NOT mean that every trial uses the same variables to represent the same kinds of data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dirty="0"/>
              <a:t>Look out for missing variables or missing values in each trial</a:t>
            </a:r>
          </a:p>
          <a:p>
            <a:pPr marL="0" indent="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6181199-949C-4D5B-524A-95D770D3D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E8A11-A948-4F76-9026-18B38BBD1BF8}" type="slidenum">
              <a:rPr lang="en-US" smtClean="0"/>
              <a:t>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3E1A90D-BCB7-1DFE-7090-DE465CE6E9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629" y="2328706"/>
            <a:ext cx="5486676" cy="432967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5EE0703C-7880-D0F3-AE4E-CA8A01DECB4C}"/>
              </a:ext>
            </a:extLst>
          </p:cNvPr>
          <p:cNvSpPr txBox="1">
            <a:spLocks/>
          </p:cNvSpPr>
          <p:nvPr/>
        </p:nvSpPr>
        <p:spPr>
          <a:xfrm>
            <a:off x="6408057" y="1711798"/>
            <a:ext cx="5631543" cy="46534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spcBef>
                <a:spcPct val="20000"/>
              </a:spcBef>
              <a:buFont typeface="Courier New" panose="02070309020205020404" pitchFamily="49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spcBef>
                <a:spcPct val="20000"/>
              </a:spcBef>
              <a:buFont typeface="Wingdings" panose="05000000000000000000" pitchFamily="2" charset="2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/>
            <a:r>
              <a:rPr lang="en-US" sz="1200" dirty="0">
                <a:highlight>
                  <a:srgbClr val="C0C0C0"/>
                </a:highlight>
                <a:latin typeface="Consolas" panose="020B0609020204030204" pitchFamily="49" charset="0"/>
              </a:rPr>
              <a:t>/home/TB-PACTS/metadata/2022-04-14-TB-PACTS_Data_Dictionary.xlsx</a:t>
            </a:r>
          </a:p>
        </p:txBody>
      </p:sp>
    </p:spTree>
    <p:extLst>
      <p:ext uri="{BB962C8B-B14F-4D97-AF65-F5344CB8AC3E}">
        <p14:creationId xmlns:p14="http://schemas.microsoft.com/office/powerpoint/2010/main" val="27873311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F808DC-C7F7-09B2-9D1F-84A5B6A56C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569912"/>
          </a:xfrm>
        </p:spPr>
        <p:txBody>
          <a:bodyPr>
            <a:normAutofit fontScale="90000"/>
          </a:bodyPr>
          <a:lstStyle/>
          <a:p>
            <a:r>
              <a:rPr lang="en-US" dirty="0"/>
              <a:t>Repository Guide: </a:t>
            </a:r>
            <a:r>
              <a:rPr lang="en-US" dirty="0">
                <a:latin typeface="Consolas" panose="020B0609020204030204" pitchFamily="49" charset="0"/>
              </a:rPr>
              <a:t>info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B59FCA-D4CC-53EE-DB20-15692D04C4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75334" y="788653"/>
            <a:ext cx="5386917" cy="484187"/>
          </a:xfrm>
        </p:spPr>
        <p:txBody>
          <a:bodyPr/>
          <a:lstStyle/>
          <a:p>
            <a:r>
              <a:rPr lang="en-US" dirty="0">
                <a:latin typeface="Consolas" panose="020B0609020204030204" pitchFamily="49" charset="0"/>
              </a:rPr>
              <a:t>/home/TB-PACTS/info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6EF560-D014-36C6-AC29-68B7C6601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E8A11-A948-4F76-9026-18B38BBD1BF8}" type="slidenum">
              <a:rPr lang="en-US" smtClean="0"/>
              <a:t>8</a:t>
            </a:fld>
            <a:endParaRPr lang="en-US"/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F10C888B-43D7-57D9-A4EC-87C2E81DC17D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397902739"/>
              </p:ext>
            </p:extLst>
          </p:nvPr>
        </p:nvGraphicFramePr>
        <p:xfrm>
          <a:off x="274010" y="1272840"/>
          <a:ext cx="11424501" cy="200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4789">
                  <a:extLst>
                    <a:ext uri="{9D8B030D-6E8A-4147-A177-3AD203B41FA5}">
                      <a16:colId xmlns:a16="http://schemas.microsoft.com/office/drawing/2014/main" val="1255290499"/>
                    </a:ext>
                  </a:extLst>
                </a:gridCol>
                <a:gridCol w="4054915">
                  <a:extLst>
                    <a:ext uri="{9D8B030D-6E8A-4147-A177-3AD203B41FA5}">
                      <a16:colId xmlns:a16="http://schemas.microsoft.com/office/drawing/2014/main" val="3554182071"/>
                    </a:ext>
                  </a:extLst>
                </a:gridCol>
                <a:gridCol w="5384797">
                  <a:extLst>
                    <a:ext uri="{9D8B030D-6E8A-4147-A177-3AD203B41FA5}">
                      <a16:colId xmlns:a16="http://schemas.microsoft.com/office/drawing/2014/main" val="38195173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Subfolder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File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30764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nsolas" panose="020B0609020204030204" pitchFamily="49" charset="0"/>
                        </a:rPr>
                        <a:t>info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nsolas" panose="020B0609020204030204" pitchFamily="49" charset="0"/>
                        </a:rPr>
                        <a:t>cdisc_domains.html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Description of all the CDISC domain data file names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58852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40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nsolas" panose="020B0609020204030204" pitchFamily="49" charset="0"/>
                        </a:rPr>
                        <a:t>[DOMAIN]_info.html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Summary of the variables and their values within a specific CDISC domain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7696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40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nsolas" panose="020B0609020204030204" pitchFamily="49" charset="0"/>
                        </a:rPr>
                        <a:t>[DOMAIN].csv.info.csv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Listing of the variables in the domain in a CSV format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407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40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nsolas" panose="020B0609020204030204" pitchFamily="49" charset="0"/>
                        </a:rPr>
                        <a:t>[DOMAIN]_csv_info_with_descriptions.csv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Listing of the variables with AI-generated annotations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4540657"/>
                  </a:ext>
                </a:extLst>
              </a:tr>
            </a:tbl>
          </a:graphicData>
        </a:graphic>
      </p:graphicFrame>
      <p:pic>
        <p:nvPicPr>
          <p:cNvPr id="18" name="Picture 17">
            <a:extLst>
              <a:ext uri="{FF2B5EF4-FFF2-40B4-BE49-F238E27FC236}">
                <a16:creationId xmlns:a16="http://schemas.microsoft.com/office/drawing/2014/main" id="{F4D05F30-654C-F78C-845E-678F42DDB1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8378" y="3564556"/>
            <a:ext cx="6715767" cy="384078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83C637E-39CB-4A74-FB69-67DA442BA9D6}"/>
              </a:ext>
            </a:extLst>
          </p:cNvPr>
          <p:cNvSpPr txBox="1"/>
          <p:nvPr/>
        </p:nvSpPr>
        <p:spPr>
          <a:xfrm>
            <a:off x="9466078" y="4096496"/>
            <a:ext cx="315409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/home/TB-PACTS/info/</a:t>
            </a:r>
            <a:br>
              <a:rPr lang="en-US" sz="1400" dirty="0">
                <a:latin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</a:rPr>
              <a:t>ae_info.html</a:t>
            </a:r>
          </a:p>
        </p:txBody>
      </p:sp>
    </p:spTree>
    <p:extLst>
      <p:ext uri="{BB962C8B-B14F-4D97-AF65-F5344CB8AC3E}">
        <p14:creationId xmlns:p14="http://schemas.microsoft.com/office/powerpoint/2010/main" val="37274191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B01D8-ECD3-71B0-F414-7E64D7797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B5C60-41A4-4481-4DA9-4004B27FA5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569912"/>
          </a:xfrm>
        </p:spPr>
        <p:txBody>
          <a:bodyPr>
            <a:normAutofit fontScale="90000"/>
          </a:bodyPr>
          <a:lstStyle/>
          <a:p>
            <a:r>
              <a:rPr lang="en-US" dirty="0"/>
              <a:t>Repository Guide: </a:t>
            </a:r>
            <a:r>
              <a:rPr lang="en-US" dirty="0">
                <a:latin typeface="Consolas" panose="020B0609020204030204" pitchFamily="49" charset="0"/>
              </a:rPr>
              <a:t>metadata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728699-BE2B-2BF9-9578-6F26E4D2E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9790" y="920067"/>
            <a:ext cx="5386917" cy="484187"/>
          </a:xfrm>
        </p:spPr>
        <p:txBody>
          <a:bodyPr/>
          <a:lstStyle/>
          <a:p>
            <a:r>
              <a:rPr lang="en-US" dirty="0">
                <a:latin typeface="Consolas" panose="020B0609020204030204" pitchFamily="49" charset="0"/>
              </a:rPr>
              <a:t>/home/TB-PACTS/metadata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F6F078-A1CE-5D89-96DA-094B13B1A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E8A11-A948-4F76-9026-18B38BBD1BF8}" type="slidenum">
              <a:rPr lang="en-US" smtClean="0"/>
              <a:t>9</a:t>
            </a:fld>
            <a:endParaRPr lang="en-US"/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D4406266-E144-4400-0059-7DDA210FFA03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987151122"/>
              </p:ext>
            </p:extLst>
          </p:nvPr>
        </p:nvGraphicFramePr>
        <p:xfrm>
          <a:off x="318468" y="1549352"/>
          <a:ext cx="11430847" cy="27323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5892">
                  <a:extLst>
                    <a:ext uri="{9D8B030D-6E8A-4147-A177-3AD203B41FA5}">
                      <a16:colId xmlns:a16="http://schemas.microsoft.com/office/drawing/2014/main" val="1255290499"/>
                    </a:ext>
                  </a:extLst>
                </a:gridCol>
                <a:gridCol w="5039869">
                  <a:extLst>
                    <a:ext uri="{9D8B030D-6E8A-4147-A177-3AD203B41FA5}">
                      <a16:colId xmlns:a16="http://schemas.microsoft.com/office/drawing/2014/main" val="3554182071"/>
                    </a:ext>
                  </a:extLst>
                </a:gridCol>
                <a:gridCol w="4405086">
                  <a:extLst>
                    <a:ext uri="{9D8B030D-6E8A-4147-A177-3AD203B41FA5}">
                      <a16:colId xmlns:a16="http://schemas.microsoft.com/office/drawing/2014/main" val="3819517377"/>
                    </a:ext>
                  </a:extLst>
                </a:gridCol>
              </a:tblGrid>
              <a:tr h="333549">
                <a:tc>
                  <a:txBody>
                    <a:bodyPr/>
                    <a:lstStyle/>
                    <a:p>
                      <a:r>
                        <a:rPr lang="en-US" sz="1400" dirty="0"/>
                        <a:t>Subfolder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File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3076493"/>
                  </a:ext>
                </a:extLst>
              </a:tr>
              <a:tr h="466055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nsolas" panose="020B0609020204030204" pitchFamily="49" charset="0"/>
                        </a:rPr>
                        <a:t>metadata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nsolas" panose="020B0609020204030204" pitchFamily="49" charset="0"/>
                        </a:rPr>
                        <a:t>2022-04-14 TB-PACTS_Data_Dictionary.xlsx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Brief descriptions of all the CDISC variables in TB-PACTS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5885283"/>
                  </a:ext>
                </a:extLst>
              </a:tr>
              <a:tr h="466055">
                <a:tc>
                  <a:txBody>
                    <a:bodyPr/>
                    <a:lstStyle/>
                    <a:p>
                      <a:endParaRPr lang="en-US" sz="140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nsolas" panose="020B0609020204030204" pitchFamily="49" charset="0"/>
                        </a:rPr>
                        <a:t>2025-04-03 Critical Path Trials Overview.xlsx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Listing of the studies in TB-PACTS (with Study ID)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769614"/>
                  </a:ext>
                </a:extLst>
              </a:tr>
              <a:tr h="333549">
                <a:tc>
                  <a:txBody>
                    <a:bodyPr/>
                    <a:lstStyle/>
                    <a:p>
                      <a:endParaRPr lang="en-US" sz="140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nsolas" panose="020B0609020204030204" pitchFamily="49" charset="0"/>
                        </a:rPr>
                        <a:t>2025-04-03 ISRCTN metadata download.xlsx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Info from ISRCTN registry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407787"/>
                  </a:ext>
                </a:extLst>
              </a:tr>
              <a:tr h="333549">
                <a:tc>
                  <a:txBody>
                    <a:bodyPr/>
                    <a:lstStyle/>
                    <a:p>
                      <a:endParaRPr lang="en-US" sz="140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nsolas" panose="020B0609020204030204" pitchFamily="49" charset="0"/>
                        </a:rPr>
                        <a:t>2025-04-03 NCT metadata download.csv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Info from clinicaltrials.gov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4540657"/>
                  </a:ext>
                </a:extLst>
              </a:tr>
              <a:tr h="333549">
                <a:tc>
                  <a:txBody>
                    <a:bodyPr/>
                    <a:lstStyle/>
                    <a:p>
                      <a:endParaRPr lang="en-US" sz="140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nsolas" panose="020B0609020204030204" pitchFamily="49" charset="0"/>
                        </a:rPr>
                        <a:t>CTCAE_Word_Conversions.xlsx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CDISC info for AE terms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1744937"/>
                  </a:ext>
                </a:extLst>
              </a:tr>
              <a:tr h="466055">
                <a:tc>
                  <a:txBody>
                    <a:bodyPr/>
                    <a:lstStyle/>
                    <a:p>
                      <a:endParaRPr lang="en-US" sz="140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nsolas" panose="020B0609020204030204" pitchFamily="49" charset="0"/>
                        </a:rPr>
                        <a:t>MEDRA_Word_Conversion.xlsx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CDISC info for AE terms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0889110"/>
                  </a:ext>
                </a:extLst>
              </a:tr>
            </a:tbl>
          </a:graphicData>
        </a:graphic>
      </p:graphicFrame>
      <p:pic>
        <p:nvPicPr>
          <p:cNvPr id="16" name="Picture 15">
            <a:extLst>
              <a:ext uri="{FF2B5EF4-FFF2-40B4-BE49-F238E27FC236}">
                <a16:creationId xmlns:a16="http://schemas.microsoft.com/office/drawing/2014/main" id="{E6EE55AA-EB53-F864-A4A9-0650CB85B6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3693" y="4543870"/>
            <a:ext cx="4664614" cy="203949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8C1EBFF-BAD7-EA4B-4836-A8452FD01783}"/>
              </a:ext>
            </a:extLst>
          </p:cNvPr>
          <p:cNvSpPr txBox="1"/>
          <p:nvPr/>
        </p:nvSpPr>
        <p:spPr>
          <a:xfrm>
            <a:off x="8500878" y="5199582"/>
            <a:ext cx="315409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/home/TB-PACTS/info/</a:t>
            </a:r>
            <a:br>
              <a:rPr lang="en-US" sz="1400" dirty="0">
                <a:latin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</a:rPr>
              <a:t>cdisc_domains.html</a:t>
            </a:r>
          </a:p>
        </p:txBody>
      </p:sp>
    </p:spTree>
    <p:extLst>
      <p:ext uri="{BB962C8B-B14F-4D97-AF65-F5344CB8AC3E}">
        <p14:creationId xmlns:p14="http://schemas.microsoft.com/office/powerpoint/2010/main" val="3929318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70836-D1C0-5401-D127-1C8A128DC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0EE7C80C-DA0F-74AD-443B-2B643FD7847E}"/>
              </a:ext>
            </a:extLst>
          </p:cNvPr>
          <p:cNvSpPr txBox="1"/>
          <p:nvPr/>
        </p:nvSpPr>
        <p:spPr>
          <a:xfrm>
            <a:off x="326769" y="325360"/>
            <a:ext cx="78746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 err="1">
                <a:latin typeface="+mj-lt"/>
                <a:cs typeface="Arial" panose="020B0604020202020204" pitchFamily="34" charset="0"/>
              </a:rPr>
              <a:t>Hackday</a:t>
            </a:r>
            <a:r>
              <a:rPr lang="en-US" sz="3200" b="1" dirty="0">
                <a:latin typeface="+mj-lt"/>
                <a:cs typeface="Arial" panose="020B0604020202020204" pitchFamily="34" charset="0"/>
              </a:rPr>
              <a:t> framework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618E7A4-F903-A08B-C77A-7CB06E271E20}"/>
              </a:ext>
            </a:extLst>
          </p:cNvPr>
          <p:cNvSpPr txBox="1"/>
          <p:nvPr/>
        </p:nvSpPr>
        <p:spPr>
          <a:xfrm>
            <a:off x="239683" y="910135"/>
            <a:ext cx="10667802" cy="57861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01638" indent="-290513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j-lt"/>
                <a:cs typeface="Arial" panose="020B0604020202020204" pitchFamily="34" charset="0"/>
              </a:rPr>
              <a:t>Choose a trial from the TB-PACTS repository (put a note in slack about what you are working on)</a:t>
            </a:r>
          </a:p>
          <a:p>
            <a:pPr marL="401638" indent="-290513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j-lt"/>
                <a:cs typeface="Arial" panose="020B0604020202020204" pitchFamily="34" charset="0"/>
              </a:rPr>
              <a:t>Find the protocol and manuscript for the study: </a:t>
            </a:r>
            <a:r>
              <a:rPr lang="en-US" sz="2000" dirty="0">
                <a:highlight>
                  <a:srgbClr val="C0C0C0"/>
                </a:highlight>
                <a:latin typeface="Consolas" panose="020B0609020204030204" pitchFamily="49" charset="0"/>
                <a:cs typeface="Arial" panose="020B0604020202020204" pitchFamily="34" charset="0"/>
              </a:rPr>
              <a:t>/home/TB-PACTS/metadata</a:t>
            </a:r>
          </a:p>
          <a:p>
            <a:pPr marL="401638" indent="-290513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j-lt"/>
                <a:cs typeface="Arial" panose="020B0604020202020204" pitchFamily="34" charset="0"/>
              </a:rPr>
              <a:t>Find the tools repository in your home folder, and the README.md: </a:t>
            </a:r>
            <a:r>
              <a:rPr lang="en-US" sz="2000" dirty="0">
                <a:highlight>
                  <a:srgbClr val="C0C0C0"/>
                </a:highlight>
                <a:latin typeface="+mj-lt"/>
                <a:cs typeface="Arial" panose="020B0604020202020204" pitchFamily="34" charset="0"/>
              </a:rPr>
              <a:t>~/tb_pacts_tools/README.md</a:t>
            </a:r>
          </a:p>
          <a:p>
            <a:pPr marL="401638" indent="-290513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j-lt"/>
                <a:cs typeface="Arial" panose="020B0604020202020204" pitchFamily="34" charset="0"/>
              </a:rPr>
              <a:t>Modify the AE processing script for your study and be sure to document modifications: </a:t>
            </a:r>
            <a:r>
              <a:rPr lang="en-US" sz="2000" dirty="0">
                <a:highlight>
                  <a:srgbClr val="C0C0C0"/>
                </a:highlight>
                <a:latin typeface="Consolas" panose="020B0609020204030204" pitchFamily="49" charset="0"/>
                <a:cs typeface="Arial" panose="020B0604020202020204" pitchFamily="34" charset="0"/>
              </a:rPr>
              <a:t>~/</a:t>
            </a:r>
            <a:r>
              <a:rPr lang="en-US" sz="2000" dirty="0" err="1">
                <a:highlight>
                  <a:srgbClr val="C0C0C0"/>
                </a:highlight>
                <a:latin typeface="Consolas" panose="020B0609020204030204" pitchFamily="49" charset="0"/>
                <a:cs typeface="Arial" panose="020B0604020202020204" pitchFamily="34" charset="0"/>
              </a:rPr>
              <a:t>tb_pacts_tools</a:t>
            </a:r>
            <a:r>
              <a:rPr lang="en-US" sz="2000" dirty="0">
                <a:highlight>
                  <a:srgbClr val="C0C0C0"/>
                </a:highlight>
                <a:latin typeface="Consolas" panose="020B0609020204030204" pitchFamily="49" charset="0"/>
                <a:cs typeface="Arial" panose="020B0604020202020204" pitchFamily="34" charset="0"/>
              </a:rPr>
              <a:t>/</a:t>
            </a:r>
            <a:r>
              <a:rPr lang="en-US" sz="2000" dirty="0" err="1">
                <a:highlight>
                  <a:srgbClr val="C0C0C0"/>
                </a:highlight>
                <a:latin typeface="Consolas" panose="020B0609020204030204" pitchFamily="49" charset="0"/>
                <a:cs typeface="Arial" panose="020B0604020202020204" pitchFamily="34" charset="0"/>
              </a:rPr>
              <a:t>process_ae_data_template.R</a:t>
            </a:r>
            <a:endParaRPr lang="en-US" sz="2000" dirty="0">
              <a:highlight>
                <a:srgbClr val="C0C0C0"/>
              </a:highlight>
              <a:latin typeface="+mj-lt"/>
              <a:cs typeface="Arial" panose="020B0604020202020204" pitchFamily="34" charset="0"/>
            </a:endParaRPr>
          </a:p>
          <a:p>
            <a:pPr marL="401638" indent="-290513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j-lt"/>
                <a:cs typeface="Arial" panose="020B0604020202020204" pitchFamily="34" charset="0"/>
              </a:rPr>
              <a:t>Try to create the AE analysis data set (“</a:t>
            </a:r>
            <a:r>
              <a:rPr lang="en-US" sz="2000" dirty="0" err="1">
                <a:latin typeface="+mj-lt"/>
                <a:cs typeface="Arial" panose="020B0604020202020204" pitchFamily="34" charset="0"/>
              </a:rPr>
              <a:t>adata</a:t>
            </a:r>
            <a:r>
              <a:rPr lang="en-US" sz="2000" dirty="0">
                <a:latin typeface="+mj-lt"/>
                <a:cs typeface="Arial" panose="020B0604020202020204" pitchFamily="34" charset="0"/>
              </a:rPr>
              <a:t>”); iterate until it looks good and matches data from the manuscript</a:t>
            </a:r>
          </a:p>
          <a:p>
            <a:pPr marL="401638" indent="-290513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j-lt"/>
                <a:cs typeface="Arial" panose="020B0604020202020204" pitchFamily="34" charset="0"/>
              </a:rPr>
              <a:t>Test out the AE </a:t>
            </a:r>
            <a:r>
              <a:rPr lang="en-US" sz="2000" dirty="0" err="1">
                <a:latin typeface="+mj-lt"/>
                <a:cs typeface="Arial" panose="020B0604020202020204" pitchFamily="34" charset="0"/>
              </a:rPr>
              <a:t>adata</a:t>
            </a:r>
            <a:r>
              <a:rPr lang="en-US" sz="2000" dirty="0">
                <a:latin typeface="+mj-lt"/>
                <a:cs typeface="Arial" panose="020B0604020202020204" pitchFamily="34" charset="0"/>
              </a:rPr>
              <a:t> by rendering the quarto markdown (QMD) file:</a:t>
            </a:r>
            <a:br>
              <a:rPr lang="en-US" sz="2000" dirty="0">
                <a:latin typeface="+mj-lt"/>
                <a:cs typeface="Arial" panose="020B0604020202020204" pitchFamily="34" charset="0"/>
              </a:rPr>
            </a:br>
            <a:r>
              <a:rPr lang="en-US" sz="2000" dirty="0">
                <a:highlight>
                  <a:srgbClr val="C0C0C0"/>
                </a:highlight>
                <a:latin typeface="Consolas" panose="020B0609020204030204" pitchFamily="49" charset="0"/>
                <a:cs typeface="Arial" panose="020B0604020202020204" pitchFamily="34" charset="0"/>
              </a:rPr>
              <a:t>quarto render </a:t>
            </a:r>
            <a:r>
              <a:rPr lang="en-US" sz="2000" dirty="0" err="1">
                <a:highlight>
                  <a:srgbClr val="C0C0C0"/>
                </a:highlight>
                <a:latin typeface="Consolas" panose="020B0609020204030204" pitchFamily="49" charset="0"/>
                <a:cs typeface="Arial" panose="020B0604020202020204" pitchFamily="34" charset="0"/>
              </a:rPr>
              <a:t>ae_analysis_report_template.qmd</a:t>
            </a:r>
            <a:r>
              <a:rPr lang="en-US" sz="2000" dirty="0">
                <a:highlight>
                  <a:srgbClr val="C0C0C0"/>
                </a:highlight>
                <a:latin typeface="Consolas" panose="020B0609020204030204" pitchFamily="49" charset="0"/>
                <a:cs typeface="Arial" panose="020B0604020202020204" pitchFamily="34" charset="0"/>
              </a:rPr>
              <a:t> –output ~/</a:t>
            </a:r>
            <a:r>
              <a:rPr lang="en-US" sz="2000" dirty="0" err="1">
                <a:highlight>
                  <a:srgbClr val="C0C0C0"/>
                </a:highlight>
                <a:latin typeface="Consolas" panose="020B0609020204030204" pitchFamily="49" charset="0"/>
                <a:cs typeface="Arial" panose="020B0604020202020204" pitchFamily="34" charset="0"/>
              </a:rPr>
              <a:t>adata</a:t>
            </a:r>
            <a:r>
              <a:rPr lang="en-US" sz="2000" dirty="0">
                <a:highlight>
                  <a:srgbClr val="C0C0C0"/>
                </a:highlight>
                <a:latin typeface="Consolas" panose="020B0609020204030204" pitchFamily="49" charset="0"/>
                <a:cs typeface="Arial" panose="020B0604020202020204" pitchFamily="34" charset="0"/>
              </a:rPr>
              <a:t>/TB-[DIGITS]/ae_analysis_report_TB-[DIGITS].html</a:t>
            </a:r>
          </a:p>
          <a:p>
            <a:pPr marL="401638" indent="-290513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j-lt"/>
                <a:cs typeface="Arial" panose="020B0604020202020204" pitchFamily="34" charset="0"/>
              </a:rPr>
              <a:t>If the report doesn’t render correctly or there is an issue with the data, modify the processing script until its working (try not to modify the QMD)</a:t>
            </a:r>
          </a:p>
          <a:p>
            <a:pPr marL="401638" indent="-290513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+mj-lt"/>
                <a:cs typeface="Arial" panose="020B0604020202020204" pitchFamily="34" charset="0"/>
              </a:rPr>
              <a:t>When you have good </a:t>
            </a:r>
            <a:r>
              <a:rPr lang="en-US" sz="2000" dirty="0" err="1">
                <a:latin typeface="+mj-lt"/>
                <a:cs typeface="Arial" panose="020B0604020202020204" pitchFamily="34" charset="0"/>
              </a:rPr>
              <a:t>adata</a:t>
            </a:r>
            <a:r>
              <a:rPr lang="en-US" sz="2000" dirty="0">
                <a:latin typeface="+mj-lt"/>
                <a:cs typeface="Arial" panose="020B0604020202020204" pitchFamily="34" charset="0"/>
              </a:rPr>
              <a:t>, copy to the shared folder:</a:t>
            </a:r>
            <a:br>
              <a:rPr lang="en-US" sz="2000" dirty="0">
                <a:latin typeface="+mj-lt"/>
                <a:cs typeface="Arial" panose="020B0604020202020204" pitchFamily="34" charset="0"/>
              </a:rPr>
            </a:br>
            <a:r>
              <a:rPr lang="en-US" sz="2000" dirty="0">
                <a:highlight>
                  <a:srgbClr val="C0C0C0"/>
                </a:highlight>
                <a:latin typeface="Consolas" panose="020B0609020204030204" pitchFamily="49" charset="0"/>
                <a:cs typeface="Arial" panose="020B0604020202020204" pitchFamily="34" charset="0"/>
              </a:rPr>
              <a:t>cp -r ~/</a:t>
            </a:r>
            <a:r>
              <a:rPr lang="en-US" sz="2000" dirty="0" err="1">
                <a:highlight>
                  <a:srgbClr val="C0C0C0"/>
                </a:highlight>
                <a:latin typeface="Consolas" panose="020B0609020204030204" pitchFamily="49" charset="0"/>
                <a:cs typeface="Arial" panose="020B0604020202020204" pitchFamily="34" charset="0"/>
              </a:rPr>
              <a:t>adata</a:t>
            </a:r>
            <a:r>
              <a:rPr lang="en-US" sz="2000" dirty="0">
                <a:highlight>
                  <a:srgbClr val="C0C0C0"/>
                </a:highlight>
                <a:latin typeface="Consolas" panose="020B0609020204030204" pitchFamily="49" charset="0"/>
                <a:cs typeface="Arial" panose="020B0604020202020204" pitchFamily="34" charset="0"/>
              </a:rPr>
              <a:t>/TB-[DIGITS] /home/shared/TB-[DIGITS]_[USERNAME]</a:t>
            </a:r>
          </a:p>
        </p:txBody>
      </p:sp>
    </p:spTree>
    <p:extLst>
      <p:ext uri="{BB962C8B-B14F-4D97-AF65-F5344CB8AC3E}">
        <p14:creationId xmlns:p14="http://schemas.microsoft.com/office/powerpoint/2010/main" val="11721932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336E3E-4706-7801-440A-8B6719108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6200FE69-DD5D-EAA7-A464-4DDE8D9F1E90}"/>
              </a:ext>
            </a:extLst>
          </p:cNvPr>
          <p:cNvSpPr txBox="1"/>
          <p:nvPr/>
        </p:nvSpPr>
        <p:spPr>
          <a:xfrm>
            <a:off x="326769" y="325360"/>
            <a:ext cx="78746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+mj-lt"/>
                <a:cs typeface="Arial" panose="020B0604020202020204" pitchFamily="34" charset="0"/>
              </a:rPr>
              <a:t>Shared folder naming conventions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EFDD213-12E5-37A8-87A6-C2EDFDA31AC7}"/>
              </a:ext>
            </a:extLst>
          </p:cNvPr>
          <p:cNvSpPr txBox="1"/>
          <p:nvPr/>
        </p:nvSpPr>
        <p:spPr>
          <a:xfrm>
            <a:off x="326769" y="996925"/>
            <a:ext cx="10667802" cy="5139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01638" indent="-290513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latin typeface="+mj-lt"/>
                <a:cs typeface="Arial" panose="020B0604020202020204" pitchFamily="34" charset="0"/>
              </a:rPr>
              <a:t>When you have </a:t>
            </a:r>
            <a:r>
              <a:rPr lang="en-US" sz="2400" dirty="0" err="1">
                <a:latin typeface="+mj-lt"/>
                <a:cs typeface="Arial" panose="020B0604020202020204" pitchFamily="34" charset="0"/>
              </a:rPr>
              <a:t>adata</a:t>
            </a:r>
            <a:r>
              <a:rPr lang="en-US" sz="2400" dirty="0">
                <a:latin typeface="+mj-lt"/>
                <a:cs typeface="Arial" panose="020B0604020202020204" pitchFamily="34" charset="0"/>
              </a:rPr>
              <a:t> and a rendered QMD for a trial (ae or eff </a:t>
            </a:r>
            <a:r>
              <a:rPr lang="en-US" sz="2400" dirty="0" err="1">
                <a:latin typeface="+mj-lt"/>
                <a:cs typeface="Arial" panose="020B0604020202020204" pitchFamily="34" charset="0"/>
              </a:rPr>
              <a:t>adata</a:t>
            </a:r>
            <a:r>
              <a:rPr lang="en-US" sz="2400" dirty="0">
                <a:latin typeface="+mj-lt"/>
                <a:cs typeface="Arial" panose="020B0604020202020204" pitchFamily="34" charset="0"/>
              </a:rPr>
              <a:t>) create a folder for your study in the shared space:</a:t>
            </a:r>
            <a:br>
              <a:rPr lang="en-US" sz="2400" dirty="0">
                <a:latin typeface="+mj-lt"/>
                <a:cs typeface="Arial" panose="020B0604020202020204" pitchFamily="34" charset="0"/>
              </a:rPr>
            </a:br>
            <a:r>
              <a:rPr lang="en-US" sz="2400" dirty="0">
                <a:highlight>
                  <a:srgbClr val="C0C0C0"/>
                </a:highlight>
                <a:latin typeface="Consolas" panose="020B0609020204030204" pitchFamily="49" charset="0"/>
                <a:cs typeface="Arial" panose="020B0604020202020204" pitchFamily="34" charset="0"/>
              </a:rPr>
              <a:t>/home/shared/TB-[DIGITS]_[USERNAME]</a:t>
            </a:r>
          </a:p>
          <a:p>
            <a:pPr marL="401638" indent="-290513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latin typeface="+mj-lt"/>
                <a:cs typeface="Arial" panose="020B0604020202020204" pitchFamily="34" charset="0"/>
              </a:rPr>
              <a:t>Add these files for “ae” and/or “eff” </a:t>
            </a:r>
            <a:r>
              <a:rPr lang="en-US" sz="2400" dirty="0" err="1">
                <a:latin typeface="+mj-lt"/>
                <a:cs typeface="Arial" panose="020B0604020202020204" pitchFamily="34" charset="0"/>
              </a:rPr>
              <a:t>adata</a:t>
            </a:r>
            <a:r>
              <a:rPr lang="en-US" sz="2400" dirty="0">
                <a:latin typeface="+mj-lt"/>
                <a:cs typeface="Arial" panose="020B0604020202020204" pitchFamily="34" charset="0"/>
              </a:rPr>
              <a:t>:</a:t>
            </a:r>
            <a:br>
              <a:rPr lang="en-US" sz="2400" dirty="0">
                <a:latin typeface="+mj-lt"/>
                <a:cs typeface="Arial" panose="020B0604020202020204" pitchFamily="34" charset="0"/>
              </a:rPr>
            </a:br>
            <a:r>
              <a:rPr lang="en-US" sz="2400" dirty="0" err="1">
                <a:highlight>
                  <a:srgbClr val="C0C0C0"/>
                </a:highlight>
                <a:latin typeface="Consolas" panose="020B0609020204030204" pitchFamily="49" charset="0"/>
                <a:cs typeface="Arial" panose="020B0604020202020204" pitchFamily="34" charset="0"/>
              </a:rPr>
              <a:t>ae_adata_TB</a:t>
            </a:r>
            <a:r>
              <a:rPr lang="en-US" sz="2400" dirty="0">
                <a:highlight>
                  <a:srgbClr val="C0C0C0"/>
                </a:highlight>
                <a:latin typeface="Consolas" panose="020B0609020204030204" pitchFamily="49" charset="0"/>
                <a:cs typeface="Arial" panose="020B0604020202020204" pitchFamily="34" charset="0"/>
              </a:rPr>
              <a:t>-[DIGITS]_[TXT/DATE/VERSION].csv</a:t>
            </a:r>
            <a:br>
              <a:rPr lang="en-US" sz="2400" dirty="0">
                <a:highlight>
                  <a:srgbClr val="C0C0C0"/>
                </a:highlight>
                <a:latin typeface="Consolas" panose="020B0609020204030204" pitchFamily="49" charset="0"/>
                <a:cs typeface="Arial" panose="020B0604020202020204" pitchFamily="34" charset="0"/>
              </a:rPr>
            </a:br>
            <a:r>
              <a:rPr lang="en-US" sz="2400" dirty="0" err="1">
                <a:highlight>
                  <a:srgbClr val="C0C0C0"/>
                </a:highlight>
                <a:latin typeface="Consolas" panose="020B0609020204030204" pitchFamily="49" charset="0"/>
                <a:cs typeface="Arial" panose="020B0604020202020204" pitchFamily="34" charset="0"/>
              </a:rPr>
              <a:t>ae_analysis_report</a:t>
            </a:r>
            <a:r>
              <a:rPr lang="en-US" sz="2400" dirty="0">
                <a:highlight>
                  <a:srgbClr val="C0C0C0"/>
                </a:highlight>
                <a:latin typeface="Consolas" panose="020B0609020204030204" pitchFamily="49" charset="0"/>
                <a:cs typeface="Arial" panose="020B0604020202020204" pitchFamily="34" charset="0"/>
              </a:rPr>
              <a:t>_[TXT].</a:t>
            </a:r>
            <a:r>
              <a:rPr lang="en-US" sz="2400" dirty="0" err="1">
                <a:highlight>
                  <a:srgbClr val="C0C0C0"/>
                </a:highlight>
                <a:latin typeface="Consolas" panose="020B0609020204030204" pitchFamily="49" charset="0"/>
                <a:cs typeface="Arial" panose="020B0604020202020204" pitchFamily="34" charset="0"/>
              </a:rPr>
              <a:t>qmd</a:t>
            </a:r>
            <a:endParaRPr lang="en-US" sz="2400" dirty="0">
              <a:highlight>
                <a:srgbClr val="C0C0C0"/>
              </a:highlight>
              <a:latin typeface="Consolas" panose="020B0609020204030204" pitchFamily="49" charset="0"/>
              <a:cs typeface="Arial" panose="020B0604020202020204" pitchFamily="34" charset="0"/>
            </a:endParaRPr>
          </a:p>
          <a:p>
            <a:pPr marL="401638" indent="-290513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latin typeface="+mj-lt"/>
                <a:cs typeface="Arial" panose="020B0604020202020204" pitchFamily="34" charset="0"/>
              </a:rPr>
              <a:t>Add a markdown file for notes including sections “# Status”, “# TODO” and “# Issues”:</a:t>
            </a:r>
            <a:br>
              <a:rPr lang="en-US" sz="2400" dirty="0">
                <a:latin typeface="+mj-lt"/>
                <a:cs typeface="Arial" panose="020B0604020202020204" pitchFamily="34" charset="0"/>
              </a:rPr>
            </a:br>
            <a:r>
              <a:rPr lang="en-US" sz="2400" dirty="0">
                <a:highlight>
                  <a:srgbClr val="C0C0C0"/>
                </a:highlight>
                <a:latin typeface="+mj-lt"/>
                <a:cs typeface="Arial" panose="020B0604020202020204" pitchFamily="34" charset="0"/>
              </a:rPr>
              <a:t>notes_[USERNAME/VERSION].md</a:t>
            </a:r>
          </a:p>
          <a:p>
            <a:pPr marL="401638" indent="-290513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latin typeface="+mj-lt"/>
                <a:cs typeface="Arial" panose="020B0604020202020204" pitchFamily="34" charset="0"/>
              </a:rPr>
              <a:t>Invite others on slack to review your code, </a:t>
            </a:r>
            <a:r>
              <a:rPr lang="en-US" sz="2400" dirty="0" err="1">
                <a:latin typeface="+mj-lt"/>
                <a:cs typeface="Arial" panose="020B0604020202020204" pitchFamily="34" charset="0"/>
              </a:rPr>
              <a:t>adata</a:t>
            </a:r>
            <a:r>
              <a:rPr lang="en-US" sz="2400" dirty="0">
                <a:latin typeface="+mj-lt"/>
                <a:cs typeface="Arial" panose="020B0604020202020204" pitchFamily="34" charset="0"/>
              </a:rPr>
              <a:t> and QMD report: they can also add notes files (with naming convention)</a:t>
            </a:r>
          </a:p>
          <a:p>
            <a:pPr marL="401638" indent="-290513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latin typeface="+mj-lt"/>
                <a:cs typeface="Arial" panose="020B0604020202020204" pitchFamily="34" charset="0"/>
              </a:rPr>
              <a:t>Progress script will periodically scan </a:t>
            </a:r>
            <a:r>
              <a:rPr lang="en-US" sz="2400" dirty="0">
                <a:highlight>
                  <a:srgbClr val="C0C0C0"/>
                </a:highlight>
                <a:latin typeface="Consolas" panose="020B0609020204030204" pitchFamily="49" charset="0"/>
                <a:cs typeface="Arial" panose="020B0604020202020204" pitchFamily="34" charset="0"/>
              </a:rPr>
              <a:t>/home/shared</a:t>
            </a:r>
            <a:r>
              <a:rPr lang="en-US" sz="2400" dirty="0">
                <a:highlight>
                  <a:srgbClr val="C0C0C0"/>
                </a:highlight>
                <a:latin typeface="+mj-lt"/>
                <a:cs typeface="Arial" panose="020B0604020202020204" pitchFamily="34" charset="0"/>
              </a:rPr>
              <a:t> </a:t>
            </a:r>
            <a:r>
              <a:rPr lang="en-US" sz="2400" dirty="0">
                <a:latin typeface="+mj-lt"/>
                <a:cs typeface="Arial" panose="020B0604020202020204" pitchFamily="34" charset="0"/>
              </a:rPr>
              <a:t>for these files and notes</a:t>
            </a:r>
          </a:p>
        </p:txBody>
      </p:sp>
    </p:spTree>
    <p:extLst>
      <p:ext uri="{BB962C8B-B14F-4D97-AF65-F5344CB8AC3E}">
        <p14:creationId xmlns:p14="http://schemas.microsoft.com/office/powerpoint/2010/main" val="4515633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07214-7EA6-C168-E249-D6CECDA15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52DF054C-1CA0-2099-4B2F-685CA23AE74E}"/>
              </a:ext>
            </a:extLst>
          </p:cNvPr>
          <p:cNvSpPr txBox="1"/>
          <p:nvPr/>
        </p:nvSpPr>
        <p:spPr>
          <a:xfrm>
            <a:off x="326769" y="325360"/>
            <a:ext cx="78746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+mj-lt"/>
                <a:cs typeface="Arial" panose="020B0604020202020204" pitchFamily="34" charset="0"/>
              </a:rPr>
              <a:t>Other ideas to consider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C6A001-3B91-FC24-5EE6-7765663A6C37}"/>
              </a:ext>
            </a:extLst>
          </p:cNvPr>
          <p:cNvSpPr txBox="1"/>
          <p:nvPr/>
        </p:nvSpPr>
        <p:spPr>
          <a:xfrm>
            <a:off x="326769" y="996925"/>
            <a:ext cx="10667802" cy="45550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01638" indent="-290513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latin typeface="+mj-lt"/>
                <a:cs typeface="Arial" panose="020B0604020202020204" pitchFamily="34" charset="0"/>
              </a:rPr>
              <a:t>Create a new analysis dataset template with new variables</a:t>
            </a:r>
          </a:p>
          <a:p>
            <a:pPr marL="401638" indent="-290513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latin typeface="+mj-lt"/>
                <a:cs typeface="Arial" panose="020B0604020202020204" pitchFamily="34" charset="0"/>
              </a:rPr>
              <a:t>Review code and analysis datasets in /home/shared, checking against the protocol and manuscript</a:t>
            </a:r>
          </a:p>
          <a:p>
            <a:pPr marL="401638" indent="-290513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latin typeface="+mj-lt"/>
                <a:cs typeface="Arial" panose="020B0604020202020204" pitchFamily="34" charset="0"/>
              </a:rPr>
              <a:t>Build out new efficacy or AE analysis report figures and tables; make it a template for others to apply to additional trials</a:t>
            </a:r>
          </a:p>
          <a:p>
            <a:pPr marL="401638" indent="-290513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latin typeface="+mj-lt"/>
                <a:cs typeface="Arial" panose="020B0604020202020204" pitchFamily="34" charset="0"/>
              </a:rPr>
              <a:t>Plan analysis to address new hypotheses with demographic variables and treatment efficacy or AE</a:t>
            </a:r>
          </a:p>
          <a:p>
            <a:pPr marL="401638" indent="-290513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latin typeface="+mj-lt"/>
                <a:cs typeface="Arial" panose="020B0604020202020204" pitchFamily="34" charset="0"/>
              </a:rPr>
              <a:t>Combine analysis datasets and build out a meta-analysis template</a:t>
            </a:r>
          </a:p>
          <a:p>
            <a:pPr marL="401638" indent="-290513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latin typeface="+mj-lt"/>
                <a:cs typeface="Arial" panose="020B0604020202020204" pitchFamily="34" charset="0"/>
              </a:rPr>
              <a:t>Combine AE and efficacy analysis datasets to ask how adverse events relate to efficacy</a:t>
            </a:r>
          </a:p>
        </p:txBody>
      </p:sp>
    </p:spTree>
    <p:extLst>
      <p:ext uri="{BB962C8B-B14F-4D97-AF65-F5344CB8AC3E}">
        <p14:creationId xmlns:p14="http://schemas.microsoft.com/office/powerpoint/2010/main" val="18545993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4F5C09B4-32D2-46D9-B082-32537DF56D26}"/>
              </a:ext>
            </a:extLst>
          </p:cNvPr>
          <p:cNvSpPr txBox="1"/>
          <p:nvPr/>
        </p:nvSpPr>
        <p:spPr>
          <a:xfrm>
            <a:off x="326769" y="325360"/>
            <a:ext cx="78746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>
                <a:latin typeface="+mj-lt"/>
                <a:cs typeface="Arial" panose="020B0604020202020204" pitchFamily="34" charset="0"/>
              </a:rPr>
              <a:t>Opportunities to get involved in TB research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5B1908-5A22-9937-4236-7133897B0BD4}"/>
              </a:ext>
            </a:extLst>
          </p:cNvPr>
          <p:cNvSpPr txBox="1"/>
          <p:nvPr/>
        </p:nvSpPr>
        <p:spPr>
          <a:xfrm>
            <a:off x="416845" y="991948"/>
            <a:ext cx="7997963" cy="31547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33363" indent="-233363"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 dirty="0">
                <a:latin typeface="+mj-lt"/>
                <a:cs typeface="Arial" panose="020B0604020202020204" pitchFamily="34" charset="0"/>
              </a:rPr>
              <a:t>Join SEATRAC or your local NIH TB Research Accelerator (TRAC)</a:t>
            </a:r>
          </a:p>
          <a:p>
            <a:pPr marL="233363" indent="-233363"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 dirty="0">
                <a:latin typeface="+mj-lt"/>
                <a:cs typeface="Arial" panose="020B0604020202020204" pitchFamily="34" charset="0"/>
              </a:rPr>
              <a:t>Join for access to Clinical, Immunology and Data Science Core services (e.g., BSL3 trainings, sample repository, data science consultations, seminar announcements)</a:t>
            </a:r>
          </a:p>
          <a:p>
            <a:pPr marL="233363" indent="-233363"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 dirty="0">
                <a:latin typeface="+mj-lt"/>
                <a:cs typeface="Arial" panose="020B0604020202020204" pitchFamily="34" charset="0"/>
              </a:rPr>
              <a:t>SEATRAC seed funding ($50K/</a:t>
            </a:r>
            <a:r>
              <a:rPr lang="en-US" sz="2200" dirty="0" err="1">
                <a:latin typeface="+mj-lt"/>
                <a:cs typeface="Arial" panose="020B0604020202020204" pitchFamily="34" charset="0"/>
              </a:rPr>
              <a:t>yr</a:t>
            </a:r>
            <a:r>
              <a:rPr lang="en-US" sz="2200" dirty="0">
                <a:latin typeface="+mj-lt"/>
                <a:cs typeface="Arial" panose="020B0604020202020204" pitchFamily="34" charset="0"/>
              </a:rPr>
              <a:t> for 2 </a:t>
            </a:r>
            <a:r>
              <a:rPr lang="en-US" sz="2200" dirty="0" err="1">
                <a:latin typeface="+mj-lt"/>
                <a:cs typeface="Arial" panose="020B0604020202020204" pitchFamily="34" charset="0"/>
              </a:rPr>
              <a:t>yrs</a:t>
            </a:r>
            <a:r>
              <a:rPr lang="en-US" sz="2200" dirty="0">
                <a:latin typeface="+mj-lt"/>
                <a:cs typeface="Arial" panose="020B0604020202020204" pitchFamily="34" charset="0"/>
              </a:rPr>
              <a:t>):</a:t>
            </a:r>
            <a:br>
              <a:rPr lang="en-US" sz="2200" dirty="0">
                <a:latin typeface="+mj-lt"/>
                <a:cs typeface="Arial" panose="020B0604020202020204" pitchFamily="34" charset="0"/>
              </a:rPr>
            </a:br>
            <a:r>
              <a:rPr lang="en-US" sz="2200" dirty="0">
                <a:latin typeface="+mj-lt"/>
                <a:cs typeface="Arial" panose="020B0604020202020204" pitchFamily="34" charset="0"/>
              </a:rPr>
              <a:t>“New to TB” and “New Investigator” awards</a:t>
            </a:r>
          </a:p>
          <a:p>
            <a:pPr marL="233363" indent="-233363"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 dirty="0">
                <a:latin typeface="+mj-lt"/>
                <a:cs typeface="Arial" panose="020B0604020202020204" pitchFamily="34" charset="0"/>
              </a:rPr>
              <a:t>Regular seminar series (</a:t>
            </a:r>
            <a:r>
              <a:rPr lang="en-US" dirty="0">
                <a:latin typeface="+mj-lt"/>
                <a:cs typeface="Arial" panose="020B0604020202020204" pitchFamily="34" charset="0"/>
              </a:rPr>
              <a:t>monthly at UW SLU)</a:t>
            </a:r>
          </a:p>
        </p:txBody>
      </p:sp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FFC8A093-E907-3D75-922A-A40AA080B6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1391" y="1390818"/>
            <a:ext cx="3434745" cy="1132092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FA1ABF3A-9286-4672-59FA-603FB10152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88341" y="3510261"/>
            <a:ext cx="1660842" cy="8168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>
            <a:extLst>
              <a:ext uri="{FF2B5EF4-FFF2-40B4-BE49-F238E27FC236}">
                <a16:creationId xmlns:a16="http://schemas.microsoft.com/office/drawing/2014/main" id="{FF3D7CF8-99E1-595F-05FD-A2607FA422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14808" y="2569303"/>
            <a:ext cx="3007909" cy="768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9" name="Picture 5">
            <a:extLst>
              <a:ext uri="{FF2B5EF4-FFF2-40B4-BE49-F238E27FC236}">
                <a16:creationId xmlns:a16="http://schemas.microsoft.com/office/drawing/2014/main" id="{326F8D44-84FC-340C-DA29-0B23F80D1E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8582" y="4818099"/>
            <a:ext cx="2380360" cy="573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4A8FECA-A79C-2693-1AB4-3E614D90B1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6492" y="4327157"/>
            <a:ext cx="6298668" cy="233153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CC902CC-E3AC-A621-71DC-ED8E2E565E7F}"/>
              </a:ext>
            </a:extLst>
          </p:cNvPr>
          <p:cNvSpPr txBox="1"/>
          <p:nvPr/>
        </p:nvSpPr>
        <p:spPr>
          <a:xfrm>
            <a:off x="7565160" y="6347974"/>
            <a:ext cx="24884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https://seatrac.uw.edu/</a:t>
            </a:r>
          </a:p>
        </p:txBody>
      </p:sp>
    </p:spTree>
    <p:extLst>
      <p:ext uri="{BB962C8B-B14F-4D97-AF65-F5344CB8AC3E}">
        <p14:creationId xmlns:p14="http://schemas.microsoft.com/office/powerpoint/2010/main" val="32746933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sign with white text&#10;&#10;Description automatically generated">
            <a:extLst>
              <a:ext uri="{FF2B5EF4-FFF2-40B4-BE49-F238E27FC236}">
                <a16:creationId xmlns:a16="http://schemas.microsoft.com/office/drawing/2014/main" id="{0491F2B0-F11B-28FC-AF8F-27FFC74FE8C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7378" y="927327"/>
            <a:ext cx="2933063" cy="293306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B70051B-9DCC-105F-FFE2-0FC21B1520AB}"/>
              </a:ext>
            </a:extLst>
          </p:cNvPr>
          <p:cNvSpPr txBox="1"/>
          <p:nvPr/>
        </p:nvSpPr>
        <p:spPr>
          <a:xfrm>
            <a:off x="829036" y="4561879"/>
            <a:ext cx="10533928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>
                <a:latin typeface="+mj-lt"/>
                <a:cs typeface="Arial" panose="020B0604020202020204" pitchFamily="34" charset="0"/>
              </a:rPr>
              <a:t>Thank you for participating!</a:t>
            </a:r>
          </a:p>
          <a:p>
            <a:pPr algn="ctr"/>
            <a:endParaRPr lang="en-US" sz="4400" b="1" dirty="0">
              <a:latin typeface="+mj-lt"/>
              <a:cs typeface="Arial" panose="020B0604020202020204" pitchFamily="34" charset="0"/>
            </a:endParaRPr>
          </a:p>
          <a:p>
            <a:pPr algn="ctr"/>
            <a:r>
              <a:rPr lang="en-US" sz="2800" b="1" dirty="0">
                <a:latin typeface="+mj-lt"/>
                <a:cs typeface="Arial" panose="020B0604020202020204" pitchFamily="34" charset="0"/>
              </a:rPr>
              <a:t>Your feedback is welcome for next time</a:t>
            </a:r>
          </a:p>
        </p:txBody>
      </p:sp>
    </p:spTree>
    <p:extLst>
      <p:ext uri="{BB962C8B-B14F-4D97-AF65-F5344CB8AC3E}">
        <p14:creationId xmlns:p14="http://schemas.microsoft.com/office/powerpoint/2010/main" val="30378123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F17F2C352185545A3F6DF5A38DDF33E" ma:contentTypeVersion="6" ma:contentTypeDescription="Create a new document." ma:contentTypeScope="" ma:versionID="4ecff682161bae12b2186e1905d76f27">
  <xsd:schema xmlns:xsd="http://www.w3.org/2001/XMLSchema" xmlns:xs="http://www.w3.org/2001/XMLSchema" xmlns:p="http://schemas.microsoft.com/office/2006/metadata/properties" xmlns:ns2="04809d26-5546-4812-96ee-adc8741d454f" xmlns:ns3="cbdabaef-9d77-4581-bdc3-02128d36b22c" targetNamespace="http://schemas.microsoft.com/office/2006/metadata/properties" ma:root="true" ma:fieldsID="4c32835884dc35ce8ef44dc21deb5bdc" ns2:_="" ns3:_="">
    <xsd:import namespace="04809d26-5546-4812-96ee-adc8741d454f"/>
    <xsd:import namespace="cbdabaef-9d77-4581-bdc3-02128d36b22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4809d26-5546-4812-96ee-adc8741d454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bdabaef-9d77-4581-bdc3-02128d36b22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A054B514-FEAB-4F15-AB0A-0BB9B87F734F}">
  <ds:schemaRefs>
    <ds:schemaRef ds:uri="04809d26-5546-4812-96ee-adc8741d454f"/>
    <ds:schemaRef ds:uri="cbdabaef-9d77-4581-bdc3-02128d36b22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E2D09CCC-183E-4C94-801D-6F2575EE4C5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B04CED6-3888-4BAC-9E38-27F8D9F1DDEC}">
  <ds:schemaRefs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purl.org/dc/terms/"/>
    <ds:schemaRef ds:uri="http://schemas.openxmlformats.org/package/2006/metadata/core-properties"/>
    <ds:schemaRef ds:uri="cbdabaef-9d77-4581-bdc3-02128d36b22c"/>
    <ds:schemaRef ds:uri="http://schemas.microsoft.com/office/2006/documentManagement/types"/>
    <ds:schemaRef ds:uri="04809d26-5546-4812-96ee-adc8741d454f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10881</TotalTime>
  <Words>1543</Words>
  <Application>Microsoft Office PowerPoint</Application>
  <PresentationFormat>Widescreen</PresentationFormat>
  <Paragraphs>172</Paragraphs>
  <Slides>14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3" baseType="lpstr">
      <vt:lpstr>-apple-system</vt:lpstr>
      <vt:lpstr>Arial</vt:lpstr>
      <vt:lpstr>Calibri</vt:lpstr>
      <vt:lpstr>Consolas</vt:lpstr>
      <vt:lpstr>Courier New</vt:lpstr>
      <vt:lpstr>Montserrat</vt:lpstr>
      <vt:lpstr>Times</vt:lpstr>
      <vt:lpstr>Wingdings</vt:lpstr>
      <vt:lpstr>Office Theme</vt:lpstr>
      <vt:lpstr>TB Hackday February 11, 2025</vt:lpstr>
      <vt:lpstr>PowerPoint Presentation</vt:lpstr>
      <vt:lpstr>PowerPoint Presentation</vt:lpstr>
      <vt:lpstr>PowerPoint Presentation</vt:lpstr>
      <vt:lpstr>PowerPoint Presentation</vt:lpstr>
      <vt:lpstr>Study Guide</vt:lpstr>
      <vt:lpstr>CDISC: Clinical Trial Data Standards</vt:lpstr>
      <vt:lpstr>Repository Guide: info</vt:lpstr>
      <vt:lpstr>Repository Guide: metadata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Fred Hutch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Talk Title</dc:title>
  <dc:creator>Chung, Michelle</dc:creator>
  <cp:lastModifiedBy>Fiore-Gartland, Andrew J</cp:lastModifiedBy>
  <cp:revision>7</cp:revision>
  <dcterms:created xsi:type="dcterms:W3CDTF">2017-09-01T17:39:30Z</dcterms:created>
  <dcterms:modified xsi:type="dcterms:W3CDTF">2026-02-10T07:48:34Z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0x010100CF17F2C352185545A3F6DF5A38DDF33E</vt:lpwstr>
  </property>
</Properties>
</file>